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990011"/>
        </a:solidFill>
      </p:bgPr>
    </p:bg>
    <p:spTree>
      <p:nvGrpSpPr>
        <p:cNvPr id="1" name=""/>
        <p:cNvGrpSpPr/>
        <p:nvPr/>
      </p:nvGrpSpPr>
      <p:grpSpPr>
        <a:xfrm>
          <a:off x="0" y="0"/>
          <a:ext cx="0" cy="0"/>
          <a:chOff x="0" y="0"/>
          <a:chExt cx="0" cy="0"/>
        </a:xfrm>
      </p:grpSpPr>
      <p:sp>
        <p:nvSpPr>
          <p:cNvPr id="2" name="Shape 0"/>
          <p:cNvSpPr/>
          <p:nvPr/>
        </p:nvSpPr>
        <p:spPr>
          <a:xfrm>
            <a:off x="9692640" y="0"/>
            <a:ext cx="2496312" cy="6858000"/>
          </a:xfrm>
          <a:prstGeom prst="rect">
            <a:avLst/>
          </a:prstGeom>
          <a:solidFill>
            <a:srgbClr val="80070F"/>
          </a:solidFill>
          <a:ln/>
        </p:spPr>
      </p:sp>
      <p:sp>
        <p:nvSpPr>
          <p:cNvPr id="3" name="Shape 1"/>
          <p:cNvSpPr/>
          <p:nvPr/>
        </p:nvSpPr>
        <p:spPr>
          <a:xfrm>
            <a:off x="731520" y="502920"/>
            <a:ext cx="713232" cy="713232"/>
          </a:xfrm>
          <a:prstGeom prst="ellipse">
            <a:avLst/>
          </a:prstGeom>
          <a:solidFill>
            <a:srgbClr val="FFFFFF"/>
          </a:solidFill>
          <a:ln/>
        </p:spPr>
      </p:sp>
      <p:pic>
        <p:nvPicPr>
          <p:cNvPr id="4" name="Image 0" descr="/home/claude/iilm_logo.png">    </p:cNvPr>
          <p:cNvPicPr>
            <a:picLocks noChangeAspect="1"/>
          </p:cNvPicPr>
          <p:nvPr/>
        </p:nvPicPr>
        <p:blipFill>
          <a:blip r:embed="rId1"/>
          <a:stretch>
            <a:fillRect/>
          </a:stretch>
        </p:blipFill>
        <p:spPr>
          <a:xfrm>
            <a:off x="850392" y="603504"/>
            <a:ext cx="475488" cy="512064"/>
          </a:xfrm>
          <a:prstGeom prst="rect">
            <a:avLst/>
          </a:prstGeom>
        </p:spPr>
      </p:pic>
      <p:sp>
        <p:nvSpPr>
          <p:cNvPr id="5" name="Text 2"/>
          <p:cNvSpPr txBox="1"/>
          <p:nvPr/>
        </p:nvSpPr>
        <p:spPr>
          <a:xfrm>
            <a:off x="1572768" y="548640"/>
            <a:ext cx="50292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IILM UNIVERSITY</a:t>
            </a:r>
            <a:endParaRPr lang="en-US" sz="1700" dirty="0"/>
          </a:p>
        </p:txBody>
      </p:sp>
      <p:sp>
        <p:nvSpPr>
          <p:cNvPr id="6" name="Text 3"/>
          <p:cNvSpPr txBox="1"/>
          <p:nvPr/>
        </p:nvSpPr>
        <p:spPr>
          <a:xfrm>
            <a:off x="1572768" y="896112"/>
            <a:ext cx="5029200" cy="274320"/>
          </a:xfrm>
          <a:prstGeom prst="rect">
            <a:avLst/>
          </a:prstGeom>
          <a:noFill/>
          <a:ln/>
        </p:spPr>
        <p:txBody>
          <a:bodyPr wrap="square" lIns="0" tIns="0" rIns="0" bIns="0" rtlCol="0" anchor="ctr"/>
          <a:lstStyle/>
          <a:p>
            <a:pPr indent="0" marL="0">
              <a:buNone/>
            </a:pPr>
            <a:r>
              <a:rPr lang="en-US" sz="1100" dirty="0">
                <a:solidFill>
                  <a:srgbClr val="F2C6CC"/>
                </a:solidFill>
                <a:latin typeface="Calibri" pitchFamily="34" charset="0"/>
                <a:ea typeface="Calibri" pitchFamily="34" charset="-122"/>
                <a:cs typeface="Calibri" pitchFamily="34" charset="-120"/>
              </a:rPr>
              <a:t>Greater Noida, U.P.</a:t>
            </a:r>
            <a:endParaRPr lang="en-US" sz="1100" dirty="0"/>
          </a:p>
        </p:txBody>
      </p:sp>
      <p:sp>
        <p:nvSpPr>
          <p:cNvPr id="7" name="Text 4"/>
          <p:cNvSpPr txBox="1"/>
          <p:nvPr/>
        </p:nvSpPr>
        <p:spPr>
          <a:xfrm>
            <a:off x="731520" y="1691640"/>
            <a:ext cx="7955280" cy="365760"/>
          </a:xfrm>
          <a:prstGeom prst="rect">
            <a:avLst/>
          </a:prstGeom>
          <a:noFill/>
          <a:ln/>
        </p:spPr>
        <p:txBody>
          <a:bodyPr wrap="square" lIns="0" tIns="0" rIns="0" bIns="0" rtlCol="0" anchor="ctr"/>
          <a:lstStyle/>
          <a:p>
            <a:pPr indent="0" marL="0">
              <a:buNone/>
            </a:pPr>
            <a:r>
              <a:rPr lang="en-US" sz="1300" b="1" spc="300" kern="0" dirty="0">
                <a:solidFill>
                  <a:srgbClr val="F2C6CC"/>
                </a:solidFill>
                <a:latin typeface="Calibri" pitchFamily="34" charset="0"/>
                <a:ea typeface="Calibri" pitchFamily="34" charset="-122"/>
                <a:cs typeface="Calibri" pitchFamily="34" charset="-120"/>
              </a:rPr>
              <a:t>INTERNSHIP REPORT</a:t>
            </a:r>
            <a:endParaRPr lang="en-US" sz="1300" dirty="0"/>
          </a:p>
        </p:txBody>
      </p:sp>
      <p:sp>
        <p:nvSpPr>
          <p:cNvPr id="8" name="Text 5"/>
          <p:cNvSpPr txBox="1"/>
          <p:nvPr/>
        </p:nvSpPr>
        <p:spPr>
          <a:xfrm>
            <a:off x="731520" y="2057400"/>
            <a:ext cx="8138160" cy="11430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Automobile Operations &amp; Technology</a:t>
            </a:r>
            <a:endParaRPr lang="en-US" sz="3600" dirty="0"/>
          </a:p>
        </p:txBody>
      </p:sp>
      <p:sp>
        <p:nvSpPr>
          <p:cNvPr id="9" name="Text 6"/>
          <p:cNvSpPr txBox="1"/>
          <p:nvPr/>
        </p:nvSpPr>
        <p:spPr>
          <a:xfrm>
            <a:off x="731520" y="3017520"/>
            <a:ext cx="7955280" cy="502920"/>
          </a:xfrm>
          <a:prstGeom prst="rect">
            <a:avLst/>
          </a:prstGeom>
          <a:noFill/>
          <a:ln/>
        </p:spPr>
        <p:txBody>
          <a:bodyPr wrap="square" lIns="0" tIns="0" rIns="0" bIns="0" rtlCol="0" anchor="ctr"/>
          <a:lstStyle/>
          <a:p>
            <a:pPr indent="0" marL="0">
              <a:buNone/>
            </a:pPr>
            <a:r>
              <a:rPr lang="en-US" sz="1600" i="1" dirty="0">
                <a:solidFill>
                  <a:srgbClr val="F2C6CC"/>
                </a:solidFill>
                <a:latin typeface="Calibri" pitchFamily="34" charset="0"/>
                <a:ea typeface="Calibri" pitchFamily="34" charset="-122"/>
                <a:cs typeface="Calibri" pitchFamily="34" charset="-120"/>
              </a:rPr>
              <a:t>As a Junior Intern at Mahindra Automobile</a:t>
            </a:r>
            <a:endParaRPr lang="en-US" sz="1600" dirty="0"/>
          </a:p>
        </p:txBody>
      </p:sp>
      <p:sp>
        <p:nvSpPr>
          <p:cNvPr id="10" name="Shape 7"/>
          <p:cNvSpPr/>
          <p:nvPr/>
        </p:nvSpPr>
        <p:spPr>
          <a:xfrm>
            <a:off x="731520" y="3657600"/>
            <a:ext cx="2011680" cy="0"/>
          </a:xfrm>
          <a:prstGeom prst="line">
            <a:avLst/>
          </a:prstGeom>
          <a:noFill/>
          <a:ln w="19050">
            <a:solidFill>
              <a:srgbClr val="FFFFFF"/>
            </a:solidFill>
            <a:prstDash val="solid"/>
          </a:ln>
        </p:spPr>
      </p:sp>
      <p:sp>
        <p:nvSpPr>
          <p:cNvPr id="11" name="Text 8"/>
          <p:cNvSpPr txBox="1"/>
          <p:nvPr/>
        </p:nvSpPr>
        <p:spPr>
          <a:xfrm>
            <a:off x="731520" y="3886200"/>
            <a:ext cx="3520440" cy="274320"/>
          </a:xfrm>
          <a:prstGeom prst="rect">
            <a:avLst/>
          </a:prstGeom>
          <a:noFill/>
          <a:ln/>
        </p:spPr>
        <p:txBody>
          <a:bodyPr wrap="square" lIns="0" tIns="0" rIns="0" bIns="0" rtlCol="0" anchor="ctr"/>
          <a:lstStyle/>
          <a:p>
            <a:pPr indent="0" marL="0">
              <a:buNone/>
            </a:pPr>
            <a:r>
              <a:rPr lang="en-US" sz="1050" b="1" spc="150" kern="0" dirty="0">
                <a:solidFill>
                  <a:srgbClr val="E3949E"/>
                </a:solidFill>
                <a:latin typeface="Calibri" pitchFamily="34" charset="0"/>
                <a:ea typeface="Calibri" pitchFamily="34" charset="-122"/>
                <a:cs typeface="Calibri" pitchFamily="34" charset="-120"/>
              </a:rPr>
              <a:t>STUDENT NAME</a:t>
            </a:r>
            <a:endParaRPr lang="en-US" sz="1050" dirty="0"/>
          </a:p>
        </p:txBody>
      </p:sp>
      <p:sp>
        <p:nvSpPr>
          <p:cNvPr id="12" name="Text 9"/>
          <p:cNvSpPr txBox="1"/>
          <p:nvPr/>
        </p:nvSpPr>
        <p:spPr>
          <a:xfrm>
            <a:off x="731520" y="4160520"/>
            <a:ext cx="35204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Vedant Kataria</a:t>
            </a:r>
            <a:endParaRPr lang="en-US" sz="1500" dirty="0"/>
          </a:p>
        </p:txBody>
      </p:sp>
      <p:sp>
        <p:nvSpPr>
          <p:cNvPr id="13" name="Text 10"/>
          <p:cNvSpPr txBox="1"/>
          <p:nvPr/>
        </p:nvSpPr>
        <p:spPr>
          <a:xfrm>
            <a:off x="4526280" y="3886200"/>
            <a:ext cx="3520440" cy="274320"/>
          </a:xfrm>
          <a:prstGeom prst="rect">
            <a:avLst/>
          </a:prstGeom>
          <a:noFill/>
          <a:ln/>
        </p:spPr>
        <p:txBody>
          <a:bodyPr wrap="square" lIns="0" tIns="0" rIns="0" bIns="0" rtlCol="0" anchor="ctr"/>
          <a:lstStyle/>
          <a:p>
            <a:pPr indent="0" marL="0">
              <a:buNone/>
            </a:pPr>
            <a:r>
              <a:rPr lang="en-US" sz="1050" b="1" spc="150" kern="0" dirty="0">
                <a:solidFill>
                  <a:srgbClr val="E3949E"/>
                </a:solidFill>
                <a:latin typeface="Calibri" pitchFamily="34" charset="0"/>
                <a:ea typeface="Calibri" pitchFamily="34" charset="-122"/>
                <a:cs typeface="Calibri" pitchFamily="34" charset="-120"/>
              </a:rPr>
              <a:t>ENROLLMENT NUMBER</a:t>
            </a:r>
            <a:endParaRPr lang="en-US" sz="1050" dirty="0"/>
          </a:p>
        </p:txBody>
      </p:sp>
      <p:sp>
        <p:nvSpPr>
          <p:cNvPr id="14" name="Text 11"/>
          <p:cNvSpPr txBox="1"/>
          <p:nvPr/>
        </p:nvSpPr>
        <p:spPr>
          <a:xfrm>
            <a:off x="4526280" y="4160520"/>
            <a:ext cx="35204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25SCS1003005392</a:t>
            </a:r>
            <a:endParaRPr lang="en-US" sz="1500" dirty="0"/>
          </a:p>
        </p:txBody>
      </p:sp>
      <p:sp>
        <p:nvSpPr>
          <p:cNvPr id="15" name="Text 12"/>
          <p:cNvSpPr txBox="1"/>
          <p:nvPr/>
        </p:nvSpPr>
        <p:spPr>
          <a:xfrm>
            <a:off x="731520" y="4754880"/>
            <a:ext cx="3520440" cy="274320"/>
          </a:xfrm>
          <a:prstGeom prst="rect">
            <a:avLst/>
          </a:prstGeom>
          <a:noFill/>
          <a:ln/>
        </p:spPr>
        <p:txBody>
          <a:bodyPr wrap="square" lIns="0" tIns="0" rIns="0" bIns="0" rtlCol="0" anchor="ctr"/>
          <a:lstStyle/>
          <a:p>
            <a:pPr indent="0" marL="0">
              <a:buNone/>
            </a:pPr>
            <a:r>
              <a:rPr lang="en-US" sz="1050" b="1" spc="150" kern="0" dirty="0">
                <a:solidFill>
                  <a:srgbClr val="E3949E"/>
                </a:solidFill>
                <a:latin typeface="Calibri" pitchFamily="34" charset="0"/>
                <a:ea typeface="Calibri" pitchFamily="34" charset="-122"/>
                <a:cs typeface="Calibri" pitchFamily="34" charset="-120"/>
              </a:rPr>
              <a:t>PROGRAM &amp; SEMESTER</a:t>
            </a:r>
            <a:endParaRPr lang="en-US" sz="1050" dirty="0"/>
          </a:p>
        </p:txBody>
      </p:sp>
      <p:sp>
        <p:nvSpPr>
          <p:cNvPr id="16" name="Text 13"/>
          <p:cNvSpPr txBox="1"/>
          <p:nvPr/>
        </p:nvSpPr>
        <p:spPr>
          <a:xfrm>
            <a:off x="731520" y="5029200"/>
            <a:ext cx="35204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B.Tech CSE, Semester 3</a:t>
            </a:r>
            <a:endParaRPr lang="en-US" sz="1500" dirty="0"/>
          </a:p>
        </p:txBody>
      </p:sp>
      <p:sp>
        <p:nvSpPr>
          <p:cNvPr id="17" name="Text 14"/>
          <p:cNvSpPr txBox="1"/>
          <p:nvPr/>
        </p:nvSpPr>
        <p:spPr>
          <a:xfrm>
            <a:off x="4526280" y="4754880"/>
            <a:ext cx="3520440" cy="274320"/>
          </a:xfrm>
          <a:prstGeom prst="rect">
            <a:avLst/>
          </a:prstGeom>
          <a:noFill/>
          <a:ln/>
        </p:spPr>
        <p:txBody>
          <a:bodyPr wrap="square" lIns="0" tIns="0" rIns="0" bIns="0" rtlCol="0" anchor="ctr"/>
          <a:lstStyle/>
          <a:p>
            <a:pPr indent="0" marL="0">
              <a:buNone/>
            </a:pPr>
            <a:r>
              <a:rPr lang="en-US" sz="1050" b="1" spc="150" kern="0" dirty="0">
                <a:solidFill>
                  <a:srgbClr val="E3949E"/>
                </a:solidFill>
                <a:latin typeface="Calibri" pitchFamily="34" charset="0"/>
                <a:ea typeface="Calibri" pitchFamily="34" charset="-122"/>
                <a:cs typeface="Calibri" pitchFamily="34" charset="-120"/>
              </a:rPr>
              <a:t>ORGANIZATION</a:t>
            </a:r>
            <a:endParaRPr lang="en-US" sz="1050" dirty="0"/>
          </a:p>
        </p:txBody>
      </p:sp>
      <p:sp>
        <p:nvSpPr>
          <p:cNvPr id="18" name="Text 15"/>
          <p:cNvSpPr txBox="1"/>
          <p:nvPr/>
        </p:nvSpPr>
        <p:spPr>
          <a:xfrm>
            <a:off x="4526280" y="5029200"/>
            <a:ext cx="35204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Mahindra Automobile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What This Report Covers</a:t>
            </a:r>
            <a:endParaRPr lang="en-US" sz="3200" dirty="0"/>
          </a:p>
        </p:txBody>
      </p:sp>
      <p:sp>
        <p:nvSpPr>
          <p:cNvPr id="4" name="Text 2"/>
          <p:cNvSpPr txBox="1"/>
          <p:nvPr/>
        </p:nvSpPr>
        <p:spPr>
          <a:xfrm>
            <a:off x="548640" y="1691640"/>
            <a:ext cx="822960" cy="822960"/>
          </a:xfrm>
          <a:prstGeom prst="rect">
            <a:avLst/>
          </a:prstGeom>
          <a:noFill/>
          <a:ln/>
        </p:spPr>
        <p:txBody>
          <a:bodyPr wrap="square" lIns="0" tIns="0" rIns="0" bIns="0" rtlCol="0" anchor="ctr"/>
          <a:lstStyle/>
          <a:p>
            <a:pPr indent="0" marL="0">
              <a:buNone/>
            </a:pPr>
            <a:r>
              <a:rPr lang="en-US" sz="3000" b="1" dirty="0">
                <a:solidFill>
                  <a:srgbClr val="E3B4B9"/>
                </a:solidFill>
                <a:latin typeface="Cambria" pitchFamily="34" charset="0"/>
                <a:ea typeface="Cambria" pitchFamily="34" charset="-122"/>
                <a:cs typeface="Cambria" pitchFamily="34" charset="-120"/>
              </a:rPr>
              <a:t>01</a:t>
            </a:r>
            <a:endParaRPr lang="en-US" sz="3000" dirty="0"/>
          </a:p>
        </p:txBody>
      </p:sp>
      <p:sp>
        <p:nvSpPr>
          <p:cNvPr id="5" name="Text 3"/>
          <p:cNvSpPr txBox="1"/>
          <p:nvPr/>
        </p:nvSpPr>
        <p:spPr>
          <a:xfrm>
            <a:off x="1371600" y="1709928"/>
            <a:ext cx="4526280"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Introduction</a:t>
            </a:r>
            <a:endParaRPr lang="en-US" sz="1600" dirty="0"/>
          </a:p>
        </p:txBody>
      </p:sp>
      <p:sp>
        <p:nvSpPr>
          <p:cNvPr id="6" name="Text 4"/>
          <p:cNvSpPr txBox="1"/>
          <p:nvPr/>
        </p:nvSpPr>
        <p:spPr>
          <a:xfrm>
            <a:off x="1371600" y="2075688"/>
            <a:ext cx="4526280" cy="54864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Purpose and structure of the internship report</a:t>
            </a:r>
            <a:endParaRPr lang="en-US" sz="1200" dirty="0"/>
          </a:p>
        </p:txBody>
      </p:sp>
      <p:sp>
        <p:nvSpPr>
          <p:cNvPr id="7" name="Text 5"/>
          <p:cNvSpPr txBox="1"/>
          <p:nvPr/>
        </p:nvSpPr>
        <p:spPr>
          <a:xfrm>
            <a:off x="6263640" y="1691640"/>
            <a:ext cx="822960" cy="822960"/>
          </a:xfrm>
          <a:prstGeom prst="rect">
            <a:avLst/>
          </a:prstGeom>
          <a:noFill/>
          <a:ln/>
        </p:spPr>
        <p:txBody>
          <a:bodyPr wrap="square" lIns="0" tIns="0" rIns="0" bIns="0" rtlCol="0" anchor="ctr"/>
          <a:lstStyle/>
          <a:p>
            <a:pPr indent="0" marL="0">
              <a:buNone/>
            </a:pPr>
            <a:r>
              <a:rPr lang="en-US" sz="3000" b="1" dirty="0">
                <a:solidFill>
                  <a:srgbClr val="E3B4B9"/>
                </a:solidFill>
                <a:latin typeface="Cambria" pitchFamily="34" charset="0"/>
                <a:ea typeface="Cambria" pitchFamily="34" charset="-122"/>
                <a:cs typeface="Cambria" pitchFamily="34" charset="-120"/>
              </a:rPr>
              <a:t>02</a:t>
            </a:r>
            <a:endParaRPr lang="en-US" sz="3000" dirty="0"/>
          </a:p>
        </p:txBody>
      </p:sp>
      <p:sp>
        <p:nvSpPr>
          <p:cNvPr id="8" name="Text 6"/>
          <p:cNvSpPr txBox="1"/>
          <p:nvPr/>
        </p:nvSpPr>
        <p:spPr>
          <a:xfrm>
            <a:off x="7086600" y="1709928"/>
            <a:ext cx="4526280"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Organization Profile</a:t>
            </a:r>
            <a:endParaRPr lang="en-US" sz="1600" dirty="0"/>
          </a:p>
        </p:txBody>
      </p:sp>
      <p:sp>
        <p:nvSpPr>
          <p:cNvPr id="9" name="Text 7"/>
          <p:cNvSpPr txBox="1"/>
          <p:nvPr/>
        </p:nvSpPr>
        <p:spPr>
          <a:xfrm>
            <a:off x="7086600" y="2075688"/>
            <a:ext cx="4526280" cy="54864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About Mahindra Automobile</a:t>
            </a:r>
            <a:endParaRPr lang="en-US" sz="1200" dirty="0"/>
          </a:p>
        </p:txBody>
      </p:sp>
      <p:sp>
        <p:nvSpPr>
          <p:cNvPr id="10" name="Text 8"/>
          <p:cNvSpPr txBox="1"/>
          <p:nvPr/>
        </p:nvSpPr>
        <p:spPr>
          <a:xfrm>
            <a:off x="548640" y="3108960"/>
            <a:ext cx="822960" cy="822960"/>
          </a:xfrm>
          <a:prstGeom prst="rect">
            <a:avLst/>
          </a:prstGeom>
          <a:noFill/>
          <a:ln/>
        </p:spPr>
        <p:txBody>
          <a:bodyPr wrap="square" lIns="0" tIns="0" rIns="0" bIns="0" rtlCol="0" anchor="ctr"/>
          <a:lstStyle/>
          <a:p>
            <a:pPr indent="0" marL="0">
              <a:buNone/>
            </a:pPr>
            <a:r>
              <a:rPr lang="en-US" sz="3000" b="1" dirty="0">
                <a:solidFill>
                  <a:srgbClr val="E3B4B9"/>
                </a:solidFill>
                <a:latin typeface="Cambria" pitchFamily="34" charset="0"/>
                <a:ea typeface="Cambria" pitchFamily="34" charset="-122"/>
                <a:cs typeface="Cambria" pitchFamily="34" charset="-120"/>
              </a:rPr>
              <a:t>03</a:t>
            </a:r>
            <a:endParaRPr lang="en-US" sz="3000" dirty="0"/>
          </a:p>
        </p:txBody>
      </p:sp>
      <p:sp>
        <p:nvSpPr>
          <p:cNvPr id="11" name="Text 9"/>
          <p:cNvSpPr txBox="1"/>
          <p:nvPr/>
        </p:nvSpPr>
        <p:spPr>
          <a:xfrm>
            <a:off x="1371600" y="3127248"/>
            <a:ext cx="4526280"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Problem Statement &amp; Objectives</a:t>
            </a:r>
            <a:endParaRPr lang="en-US" sz="1600" dirty="0"/>
          </a:p>
        </p:txBody>
      </p:sp>
      <p:sp>
        <p:nvSpPr>
          <p:cNvPr id="12" name="Text 10"/>
          <p:cNvSpPr txBox="1"/>
          <p:nvPr/>
        </p:nvSpPr>
        <p:spPr>
          <a:xfrm>
            <a:off x="1371600" y="3493008"/>
            <a:ext cx="4526280" cy="54864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The task at hand and its goals</a:t>
            </a:r>
            <a:endParaRPr lang="en-US" sz="1200" dirty="0"/>
          </a:p>
        </p:txBody>
      </p:sp>
      <p:sp>
        <p:nvSpPr>
          <p:cNvPr id="13" name="Text 11"/>
          <p:cNvSpPr txBox="1"/>
          <p:nvPr/>
        </p:nvSpPr>
        <p:spPr>
          <a:xfrm>
            <a:off x="6263640" y="3108960"/>
            <a:ext cx="822960" cy="822960"/>
          </a:xfrm>
          <a:prstGeom prst="rect">
            <a:avLst/>
          </a:prstGeom>
          <a:noFill/>
          <a:ln/>
        </p:spPr>
        <p:txBody>
          <a:bodyPr wrap="square" lIns="0" tIns="0" rIns="0" bIns="0" rtlCol="0" anchor="ctr"/>
          <a:lstStyle/>
          <a:p>
            <a:pPr indent="0" marL="0">
              <a:buNone/>
            </a:pPr>
            <a:r>
              <a:rPr lang="en-US" sz="3000" b="1" dirty="0">
                <a:solidFill>
                  <a:srgbClr val="E3B4B9"/>
                </a:solidFill>
                <a:latin typeface="Cambria" pitchFamily="34" charset="0"/>
                <a:ea typeface="Cambria" pitchFamily="34" charset="-122"/>
                <a:cs typeface="Cambria" pitchFamily="34" charset="-120"/>
              </a:rPr>
              <a:t>04</a:t>
            </a:r>
            <a:endParaRPr lang="en-US" sz="3000" dirty="0"/>
          </a:p>
        </p:txBody>
      </p:sp>
      <p:sp>
        <p:nvSpPr>
          <p:cNvPr id="14" name="Text 12"/>
          <p:cNvSpPr txBox="1"/>
          <p:nvPr/>
        </p:nvSpPr>
        <p:spPr>
          <a:xfrm>
            <a:off x="7086600" y="3127248"/>
            <a:ext cx="4526280"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Scope, Tools &amp; Architecture</a:t>
            </a:r>
            <a:endParaRPr lang="en-US" sz="1600" dirty="0"/>
          </a:p>
        </p:txBody>
      </p:sp>
      <p:sp>
        <p:nvSpPr>
          <p:cNvPr id="15" name="Text 13"/>
          <p:cNvSpPr txBox="1"/>
          <p:nvPr/>
        </p:nvSpPr>
        <p:spPr>
          <a:xfrm>
            <a:off x="7086600" y="3493008"/>
            <a:ext cx="4526280" cy="54864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Boundaries, technologies and system flow</a:t>
            </a:r>
            <a:endParaRPr lang="en-US" sz="1200" dirty="0"/>
          </a:p>
        </p:txBody>
      </p:sp>
      <p:sp>
        <p:nvSpPr>
          <p:cNvPr id="16" name="Text 14"/>
          <p:cNvSpPr txBox="1"/>
          <p:nvPr/>
        </p:nvSpPr>
        <p:spPr>
          <a:xfrm>
            <a:off x="548640" y="4526280"/>
            <a:ext cx="822960" cy="822960"/>
          </a:xfrm>
          <a:prstGeom prst="rect">
            <a:avLst/>
          </a:prstGeom>
          <a:noFill/>
          <a:ln/>
        </p:spPr>
        <p:txBody>
          <a:bodyPr wrap="square" lIns="0" tIns="0" rIns="0" bIns="0" rtlCol="0" anchor="ctr"/>
          <a:lstStyle/>
          <a:p>
            <a:pPr indent="0" marL="0">
              <a:buNone/>
            </a:pPr>
            <a:r>
              <a:rPr lang="en-US" sz="3000" b="1" dirty="0">
                <a:solidFill>
                  <a:srgbClr val="E3B4B9"/>
                </a:solidFill>
                <a:latin typeface="Cambria" pitchFamily="34" charset="0"/>
                <a:ea typeface="Cambria" pitchFamily="34" charset="-122"/>
                <a:cs typeface="Cambria" pitchFamily="34" charset="-120"/>
              </a:rPr>
              <a:t>05</a:t>
            </a:r>
            <a:endParaRPr lang="en-US" sz="3000" dirty="0"/>
          </a:p>
        </p:txBody>
      </p:sp>
      <p:sp>
        <p:nvSpPr>
          <p:cNvPr id="17" name="Text 15"/>
          <p:cNvSpPr txBox="1"/>
          <p:nvPr/>
        </p:nvSpPr>
        <p:spPr>
          <a:xfrm>
            <a:off x="1371600" y="4544568"/>
            <a:ext cx="4526280"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Methodology</a:t>
            </a:r>
            <a:endParaRPr lang="en-US" sz="1600" dirty="0"/>
          </a:p>
        </p:txBody>
      </p:sp>
      <p:sp>
        <p:nvSpPr>
          <p:cNvPr id="18" name="Text 16"/>
          <p:cNvSpPr txBox="1"/>
          <p:nvPr/>
        </p:nvSpPr>
        <p:spPr>
          <a:xfrm>
            <a:off x="1371600" y="4910328"/>
            <a:ext cx="4526280" cy="54864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The seven-step working process</a:t>
            </a:r>
            <a:endParaRPr lang="en-US" sz="1200" dirty="0"/>
          </a:p>
        </p:txBody>
      </p:sp>
      <p:sp>
        <p:nvSpPr>
          <p:cNvPr id="19" name="Text 17"/>
          <p:cNvSpPr txBox="1"/>
          <p:nvPr/>
        </p:nvSpPr>
        <p:spPr>
          <a:xfrm>
            <a:off x="6263640" y="4526280"/>
            <a:ext cx="822960" cy="822960"/>
          </a:xfrm>
          <a:prstGeom prst="rect">
            <a:avLst/>
          </a:prstGeom>
          <a:noFill/>
          <a:ln/>
        </p:spPr>
        <p:txBody>
          <a:bodyPr wrap="square" lIns="0" tIns="0" rIns="0" bIns="0" rtlCol="0" anchor="ctr"/>
          <a:lstStyle/>
          <a:p>
            <a:pPr indent="0" marL="0">
              <a:buNone/>
            </a:pPr>
            <a:r>
              <a:rPr lang="en-US" sz="3000" b="1" dirty="0">
                <a:solidFill>
                  <a:srgbClr val="E3B4B9"/>
                </a:solidFill>
                <a:latin typeface="Cambria" pitchFamily="34" charset="0"/>
                <a:ea typeface="Cambria" pitchFamily="34" charset="-122"/>
                <a:cs typeface="Cambria" pitchFamily="34" charset="-120"/>
              </a:rPr>
              <a:t>06</a:t>
            </a:r>
            <a:endParaRPr lang="en-US" sz="3000" dirty="0"/>
          </a:p>
        </p:txBody>
      </p:sp>
      <p:sp>
        <p:nvSpPr>
          <p:cNvPr id="20" name="Text 18"/>
          <p:cNvSpPr txBox="1"/>
          <p:nvPr/>
        </p:nvSpPr>
        <p:spPr>
          <a:xfrm>
            <a:off x="7086600" y="4544568"/>
            <a:ext cx="4526280"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Outcomes &amp; Learnings</a:t>
            </a:r>
            <a:endParaRPr lang="en-US" sz="1600" dirty="0"/>
          </a:p>
        </p:txBody>
      </p:sp>
      <p:sp>
        <p:nvSpPr>
          <p:cNvPr id="21" name="Text 19"/>
          <p:cNvSpPr txBox="1"/>
          <p:nvPr/>
        </p:nvSpPr>
        <p:spPr>
          <a:xfrm>
            <a:off x="7086600" y="4910328"/>
            <a:ext cx="4526280" cy="54864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Results and takeaways from the internship</a:t>
            </a:r>
            <a:endParaRPr lang="en-US" sz="1200" dirty="0"/>
          </a:p>
        </p:txBody>
      </p:sp>
      <p:sp>
        <p:nvSpPr>
          <p:cNvPr id="22" name="Text 20"/>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01 · INTRODUCTION</a:t>
            </a:r>
            <a:endParaRPr lang="en-US" sz="12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Bridging Classroom and Career</a:t>
            </a:r>
            <a:endParaRPr lang="en-US" sz="3200" dirty="0"/>
          </a:p>
        </p:txBody>
      </p:sp>
      <p:sp>
        <p:nvSpPr>
          <p:cNvPr id="4" name="Shape 2"/>
          <p:cNvSpPr/>
          <p:nvPr/>
        </p:nvSpPr>
        <p:spPr>
          <a:xfrm>
            <a:off x="7955280" y="1600200"/>
            <a:ext cx="3657600" cy="4572000"/>
          </a:xfrm>
          <a:prstGeom prst="rect">
            <a:avLst/>
          </a:prstGeom>
          <a:solidFill>
            <a:srgbClr val="FCF6F5"/>
          </a:solidFill>
          <a:ln/>
        </p:spPr>
      </p:sp>
      <p:sp>
        <p:nvSpPr>
          <p:cNvPr id="5" name="Text 3"/>
          <p:cNvSpPr txBox="1"/>
          <p:nvPr/>
        </p:nvSpPr>
        <p:spPr>
          <a:xfrm>
            <a:off x="8229600" y="1874520"/>
            <a:ext cx="3108960" cy="1554480"/>
          </a:xfrm>
          <a:prstGeom prst="rect">
            <a:avLst/>
          </a:prstGeom>
          <a:noFill/>
          <a:ln/>
        </p:spPr>
        <p:txBody>
          <a:bodyPr wrap="square" lIns="0" tIns="0" rIns="0" bIns="0" rtlCol="0" anchor="t"/>
          <a:lstStyle/>
          <a:p>
            <a:pPr indent="0" marL="0">
              <a:lnSpc>
                <a:spcPct val="130000"/>
              </a:lnSpc>
              <a:buNone/>
            </a:pPr>
            <a:r>
              <a:rPr lang="en-US" sz="1500" i="1" dirty="0">
                <a:solidFill>
                  <a:srgbClr val="990011"/>
                </a:solidFill>
                <a:latin typeface="Cambria" pitchFamily="34" charset="0"/>
                <a:ea typeface="Cambria" pitchFamily="34" charset="-122"/>
                <a:cs typeface="Cambria" pitchFamily="34" charset="-120"/>
              </a:rPr>
              <a:t>“Connecting programming, databases, networking and</a:t>
            </a:r>
            <a:endParaRPr lang="en-US" sz="1500" dirty="0"/>
          </a:p>
          <a:p>
            <a:pPr indent="0" marL="0">
              <a:lnSpc>
                <a:spcPct val="130000"/>
              </a:lnSpc>
              <a:buNone/>
            </a:pPr>
            <a:r>
              <a:rPr lang="en-US" sz="1500" i="1" dirty="0">
                <a:solidFill>
                  <a:srgbClr val="990011"/>
                </a:solidFill>
                <a:latin typeface="Cambria" pitchFamily="34" charset="0"/>
                <a:ea typeface="Cambria" pitchFamily="34" charset="-122"/>
                <a:cs typeface="Cambria" pitchFamily="34" charset="-120"/>
              </a:rPr>
              <a:t>software engineering with real professional practice.”</a:t>
            </a:r>
            <a:endParaRPr lang="en-US" sz="1500" dirty="0"/>
          </a:p>
        </p:txBody>
      </p:sp>
      <p:sp>
        <p:nvSpPr>
          <p:cNvPr id="6" name="Shape 4"/>
          <p:cNvSpPr/>
          <p:nvPr/>
        </p:nvSpPr>
        <p:spPr>
          <a:xfrm>
            <a:off x="8229600" y="3611880"/>
            <a:ext cx="3063240" cy="0"/>
          </a:xfrm>
          <a:prstGeom prst="line">
            <a:avLst/>
          </a:prstGeom>
          <a:noFill/>
          <a:ln w="12700">
            <a:solidFill>
              <a:srgbClr val="E3B4B9"/>
            </a:solidFill>
            <a:prstDash val="solid"/>
          </a:ln>
        </p:spPr>
      </p:sp>
      <p:sp>
        <p:nvSpPr>
          <p:cNvPr id="7" name="Text 5"/>
          <p:cNvSpPr txBox="1"/>
          <p:nvPr/>
        </p:nvSpPr>
        <p:spPr>
          <a:xfrm>
            <a:off x="8229600" y="3794760"/>
            <a:ext cx="3017520" cy="219456"/>
          </a:xfrm>
          <a:prstGeom prst="rect">
            <a:avLst/>
          </a:prstGeom>
          <a:noFill/>
          <a:ln/>
        </p:spPr>
        <p:txBody>
          <a:bodyPr wrap="square" lIns="0" tIns="0" rIns="0" bIns="0" rtlCol="0" anchor="ctr"/>
          <a:lstStyle/>
          <a:p>
            <a:pPr indent="0" marL="0">
              <a:buNone/>
            </a:pPr>
            <a:r>
              <a:rPr lang="en-US" sz="950" b="1" spc="100" kern="0" dirty="0">
                <a:solidFill>
                  <a:srgbClr val="B06670"/>
                </a:solidFill>
                <a:latin typeface="Calibri" pitchFamily="34" charset="0"/>
                <a:ea typeface="Calibri" pitchFamily="34" charset="-122"/>
                <a:cs typeface="Calibri" pitchFamily="34" charset="-120"/>
              </a:rPr>
              <a:t>ROLE</a:t>
            </a:r>
            <a:endParaRPr lang="en-US" sz="950" dirty="0"/>
          </a:p>
        </p:txBody>
      </p:sp>
      <p:sp>
        <p:nvSpPr>
          <p:cNvPr id="8" name="Text 6"/>
          <p:cNvSpPr txBox="1"/>
          <p:nvPr/>
        </p:nvSpPr>
        <p:spPr>
          <a:xfrm>
            <a:off x="8229600" y="4014216"/>
            <a:ext cx="301752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Junior Intern</a:t>
            </a:r>
            <a:endParaRPr lang="en-US" sz="1250" dirty="0"/>
          </a:p>
        </p:txBody>
      </p:sp>
      <p:sp>
        <p:nvSpPr>
          <p:cNvPr id="9" name="Text 7"/>
          <p:cNvSpPr txBox="1"/>
          <p:nvPr/>
        </p:nvSpPr>
        <p:spPr>
          <a:xfrm>
            <a:off x="8229600" y="4343400"/>
            <a:ext cx="3017520" cy="219456"/>
          </a:xfrm>
          <a:prstGeom prst="rect">
            <a:avLst/>
          </a:prstGeom>
          <a:noFill/>
          <a:ln/>
        </p:spPr>
        <p:txBody>
          <a:bodyPr wrap="square" lIns="0" tIns="0" rIns="0" bIns="0" rtlCol="0" anchor="ctr"/>
          <a:lstStyle/>
          <a:p>
            <a:pPr indent="0" marL="0">
              <a:buNone/>
            </a:pPr>
            <a:r>
              <a:rPr lang="en-US" sz="950" b="1" spc="100" kern="0" dirty="0">
                <a:solidFill>
                  <a:srgbClr val="B06670"/>
                </a:solidFill>
                <a:latin typeface="Calibri" pitchFamily="34" charset="0"/>
                <a:ea typeface="Calibri" pitchFamily="34" charset="-122"/>
                <a:cs typeface="Calibri" pitchFamily="34" charset="-120"/>
              </a:rPr>
              <a:t>ORGANIZATION</a:t>
            </a:r>
            <a:endParaRPr lang="en-US" sz="950" dirty="0"/>
          </a:p>
        </p:txBody>
      </p:sp>
      <p:sp>
        <p:nvSpPr>
          <p:cNvPr id="10" name="Text 8"/>
          <p:cNvSpPr txBox="1"/>
          <p:nvPr/>
        </p:nvSpPr>
        <p:spPr>
          <a:xfrm>
            <a:off x="8229600" y="4562856"/>
            <a:ext cx="301752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Mahindra Automobile</a:t>
            </a:r>
            <a:endParaRPr lang="en-US" sz="1250" dirty="0"/>
          </a:p>
        </p:txBody>
      </p:sp>
      <p:sp>
        <p:nvSpPr>
          <p:cNvPr id="11" name="Text 9"/>
          <p:cNvSpPr txBox="1"/>
          <p:nvPr/>
        </p:nvSpPr>
        <p:spPr>
          <a:xfrm>
            <a:off x="8229600" y="4892040"/>
            <a:ext cx="3017520" cy="219456"/>
          </a:xfrm>
          <a:prstGeom prst="rect">
            <a:avLst/>
          </a:prstGeom>
          <a:noFill/>
          <a:ln/>
        </p:spPr>
        <p:txBody>
          <a:bodyPr wrap="square" lIns="0" tIns="0" rIns="0" bIns="0" rtlCol="0" anchor="ctr"/>
          <a:lstStyle/>
          <a:p>
            <a:pPr indent="0" marL="0">
              <a:buNone/>
            </a:pPr>
            <a:r>
              <a:rPr lang="en-US" sz="950" b="1" spc="100" kern="0" dirty="0">
                <a:solidFill>
                  <a:srgbClr val="B06670"/>
                </a:solidFill>
                <a:latin typeface="Calibri" pitchFamily="34" charset="0"/>
                <a:ea typeface="Calibri" pitchFamily="34" charset="-122"/>
                <a:cs typeface="Calibri" pitchFamily="34" charset="-120"/>
              </a:rPr>
              <a:t>FOCUS AREA</a:t>
            </a:r>
            <a:endParaRPr lang="en-US" sz="950" dirty="0"/>
          </a:p>
        </p:txBody>
      </p:sp>
      <p:sp>
        <p:nvSpPr>
          <p:cNvPr id="12" name="Text 10"/>
          <p:cNvSpPr txBox="1"/>
          <p:nvPr/>
        </p:nvSpPr>
        <p:spPr>
          <a:xfrm>
            <a:off x="8229600" y="5111496"/>
            <a:ext cx="301752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Automobile Operations &amp; Technology</a:t>
            </a:r>
            <a:endParaRPr lang="en-US" sz="1250" dirty="0"/>
          </a:p>
        </p:txBody>
      </p:sp>
      <p:sp>
        <p:nvSpPr>
          <p:cNvPr id="13" name="Text 11"/>
          <p:cNvSpPr txBox="1"/>
          <p:nvPr/>
        </p:nvSpPr>
        <p:spPr>
          <a:xfrm>
            <a:off x="8229600" y="5440680"/>
            <a:ext cx="3017520" cy="219456"/>
          </a:xfrm>
          <a:prstGeom prst="rect">
            <a:avLst/>
          </a:prstGeom>
          <a:noFill/>
          <a:ln/>
        </p:spPr>
        <p:txBody>
          <a:bodyPr wrap="square" lIns="0" tIns="0" rIns="0" bIns="0" rtlCol="0" anchor="ctr"/>
          <a:lstStyle/>
          <a:p>
            <a:pPr indent="0" marL="0">
              <a:buNone/>
            </a:pPr>
            <a:r>
              <a:rPr lang="en-US" sz="950" b="1" spc="100" kern="0" dirty="0">
                <a:solidFill>
                  <a:srgbClr val="B06670"/>
                </a:solidFill>
                <a:latin typeface="Calibri" pitchFamily="34" charset="0"/>
                <a:ea typeface="Calibri" pitchFamily="34" charset="-122"/>
                <a:cs typeface="Calibri" pitchFamily="34" charset="-120"/>
              </a:rPr>
              <a:t>WORKING RHYTHM</a:t>
            </a:r>
            <a:endParaRPr lang="en-US" sz="950" dirty="0"/>
          </a:p>
        </p:txBody>
      </p:sp>
      <p:sp>
        <p:nvSpPr>
          <p:cNvPr id="14" name="Text 12"/>
          <p:cNvSpPr txBox="1"/>
          <p:nvPr/>
        </p:nvSpPr>
        <p:spPr>
          <a:xfrm>
            <a:off x="8229600" y="5660136"/>
            <a:ext cx="3017520" cy="292608"/>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Analyse · Build · Test · Document</a:t>
            </a:r>
            <a:endParaRPr lang="en-US" sz="1250" dirty="0"/>
          </a:p>
        </p:txBody>
      </p:sp>
      <p:sp>
        <p:nvSpPr>
          <p:cNvPr id="15" name="Shape 13"/>
          <p:cNvSpPr/>
          <p:nvPr/>
        </p:nvSpPr>
        <p:spPr>
          <a:xfrm>
            <a:off x="548640" y="1746504"/>
            <a:ext cx="54864" cy="822960"/>
          </a:xfrm>
          <a:prstGeom prst="rect">
            <a:avLst/>
          </a:prstGeom>
          <a:solidFill>
            <a:srgbClr val="990011"/>
          </a:solidFill>
          <a:ln/>
        </p:spPr>
      </p:sp>
      <p:sp>
        <p:nvSpPr>
          <p:cNvPr id="16" name="Text 14"/>
          <p:cNvSpPr txBox="1"/>
          <p:nvPr/>
        </p:nvSpPr>
        <p:spPr>
          <a:xfrm>
            <a:off x="777240" y="1691640"/>
            <a:ext cx="6858000" cy="1097280"/>
          </a:xfrm>
          <a:prstGeom prst="rect">
            <a:avLst/>
          </a:prstGeom>
          <a:noFill/>
          <a:ln/>
        </p:spPr>
        <p:txBody>
          <a:bodyPr wrap="square" lIns="0" tIns="0" rIns="0" bIns="0" rtlCol="0" anchor="ctr"/>
          <a:lstStyle/>
          <a:p>
            <a:pPr indent="0" marL="0">
              <a:lnSpc>
                <a:spcPct val="120000"/>
              </a:lnSpc>
              <a:buNone/>
            </a:pPr>
            <a:r>
              <a:rPr lang="en-US" sz="1400" dirty="0">
                <a:solidFill>
                  <a:srgbClr val="1A1A1A"/>
                </a:solidFill>
                <a:latin typeface="Calibri" pitchFamily="34" charset="0"/>
                <a:ea typeface="Calibri" pitchFamily="34" charset="-122"/>
                <a:cs typeface="Calibri" pitchFamily="34" charset="-120"/>
              </a:rPr>
              <a:t>An internship helps a student understand how the knowledge learned in college is used in a real working environment.</a:t>
            </a:r>
            <a:endParaRPr lang="en-US" sz="1400" dirty="0"/>
          </a:p>
        </p:txBody>
      </p:sp>
      <p:sp>
        <p:nvSpPr>
          <p:cNvPr id="17" name="Shape 15"/>
          <p:cNvSpPr/>
          <p:nvPr/>
        </p:nvSpPr>
        <p:spPr>
          <a:xfrm>
            <a:off x="548640" y="2980944"/>
            <a:ext cx="54864" cy="822960"/>
          </a:xfrm>
          <a:prstGeom prst="rect">
            <a:avLst/>
          </a:prstGeom>
          <a:solidFill>
            <a:srgbClr val="990011"/>
          </a:solidFill>
          <a:ln/>
        </p:spPr>
      </p:sp>
      <p:sp>
        <p:nvSpPr>
          <p:cNvPr id="18" name="Text 16"/>
          <p:cNvSpPr txBox="1"/>
          <p:nvPr/>
        </p:nvSpPr>
        <p:spPr>
          <a:xfrm>
            <a:off x="777240" y="2926080"/>
            <a:ext cx="6858000" cy="1097280"/>
          </a:xfrm>
          <a:prstGeom prst="rect">
            <a:avLst/>
          </a:prstGeom>
          <a:noFill/>
          <a:ln/>
        </p:spPr>
        <p:txBody>
          <a:bodyPr wrap="square" lIns="0" tIns="0" rIns="0" bIns="0" rtlCol="0" anchor="ctr"/>
          <a:lstStyle/>
          <a:p>
            <a:pPr indent="0" marL="0">
              <a:lnSpc>
                <a:spcPct val="120000"/>
              </a:lnSpc>
              <a:buNone/>
            </a:pPr>
            <a:r>
              <a:rPr lang="en-US" sz="1400" dirty="0">
                <a:solidFill>
                  <a:srgbClr val="1A1A1A"/>
                </a:solidFill>
                <a:latin typeface="Calibri" pitchFamily="34" charset="0"/>
                <a:ea typeface="Calibri" pitchFamily="34" charset="-122"/>
                <a:cs typeface="Calibri" pitchFamily="34" charset="-120"/>
              </a:rPr>
              <a:t>This internship centers on the role of a Junior Intern at Mahindra Automobile, focused on automobile operations and basic technology practices — issue analysis, documentation, testing and teamwork.</a:t>
            </a:r>
            <a:endParaRPr lang="en-US" sz="1400" dirty="0"/>
          </a:p>
        </p:txBody>
      </p:sp>
      <p:sp>
        <p:nvSpPr>
          <p:cNvPr id="19" name="Shape 17"/>
          <p:cNvSpPr/>
          <p:nvPr/>
        </p:nvSpPr>
        <p:spPr>
          <a:xfrm>
            <a:off x="548640" y="4215384"/>
            <a:ext cx="54864" cy="822960"/>
          </a:xfrm>
          <a:prstGeom prst="rect">
            <a:avLst/>
          </a:prstGeom>
          <a:solidFill>
            <a:srgbClr val="990011"/>
          </a:solidFill>
          <a:ln/>
        </p:spPr>
      </p:sp>
      <p:sp>
        <p:nvSpPr>
          <p:cNvPr id="20" name="Text 18"/>
          <p:cNvSpPr txBox="1"/>
          <p:nvPr/>
        </p:nvSpPr>
        <p:spPr>
          <a:xfrm>
            <a:off x="777240" y="4160520"/>
            <a:ext cx="6858000" cy="1097280"/>
          </a:xfrm>
          <a:prstGeom prst="rect">
            <a:avLst/>
          </a:prstGeom>
          <a:noFill/>
          <a:ln/>
        </p:spPr>
        <p:txBody>
          <a:bodyPr wrap="square" lIns="0" tIns="0" rIns="0" bIns="0" rtlCol="0" anchor="ctr"/>
          <a:lstStyle/>
          <a:p>
            <a:pPr indent="0" marL="0">
              <a:lnSpc>
                <a:spcPct val="120000"/>
              </a:lnSpc>
              <a:buNone/>
            </a:pPr>
            <a:r>
              <a:rPr lang="en-US" sz="1400" dirty="0">
                <a:solidFill>
                  <a:srgbClr val="1A1A1A"/>
                </a:solidFill>
                <a:latin typeface="Calibri" pitchFamily="34" charset="0"/>
                <a:ea typeface="Calibri" pitchFamily="34" charset="-122"/>
                <a:cs typeface="Calibri" pitchFamily="34" charset="-120"/>
              </a:rPr>
              <a:t>The working rhythm: receive a requirement or issue, analyse it, identify a solution, implement or configure it, test the result, document the work, and communicate progress.</a:t>
            </a:r>
            <a:endParaRPr lang="en-US" sz="1400" dirty="0"/>
          </a:p>
        </p:txBody>
      </p:sp>
      <p:sp>
        <p:nvSpPr>
          <p:cNvPr id="21" name="Text 19"/>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990011"/>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7A000D"/>
          </a:solidFill>
          <a:ln/>
        </p:spPr>
      </p:sp>
      <p:sp>
        <p:nvSpPr>
          <p:cNvPr id="3" name="Text 1"/>
          <p:cNvSpPr txBox="1"/>
          <p:nvPr/>
        </p:nvSpPr>
        <p:spPr>
          <a:xfrm>
            <a:off x="457200" y="2468880"/>
            <a:ext cx="3474720" cy="1828800"/>
          </a:xfrm>
          <a:prstGeom prst="rect">
            <a:avLst/>
          </a:prstGeom>
          <a:noFill/>
          <a:ln/>
        </p:spPr>
        <p:txBody>
          <a:bodyPr wrap="square" lIns="0" tIns="0" rIns="0" bIns="0" rtlCol="0" anchor="ctr"/>
          <a:lstStyle/>
          <a:p>
            <a:pPr indent="0" marL="0">
              <a:lnSpc>
                <a:spcPct val="105000"/>
              </a:lnSpc>
              <a:buNone/>
            </a:pPr>
            <a:r>
              <a:rPr lang="en-US" sz="2800" b="1" dirty="0">
                <a:solidFill>
                  <a:srgbClr val="FFFFFF"/>
                </a:solidFill>
                <a:latin typeface="Cambria" pitchFamily="34" charset="0"/>
                <a:ea typeface="Cambria" pitchFamily="34" charset="-122"/>
                <a:cs typeface="Cambria" pitchFamily="34" charset="-120"/>
              </a:rPr>
              <a:t>MAHINDRA</a:t>
            </a:r>
            <a:endParaRPr lang="en-US" sz="2800" dirty="0"/>
          </a:p>
          <a:p>
            <a:pPr indent="0" marL="0">
              <a:lnSpc>
                <a:spcPct val="105000"/>
              </a:lnSpc>
              <a:buNone/>
            </a:pPr>
            <a:r>
              <a:rPr lang="en-US" sz="2800" b="1" dirty="0">
                <a:solidFill>
                  <a:srgbClr val="FFFFFF"/>
                </a:solidFill>
                <a:latin typeface="Cambria" pitchFamily="34" charset="0"/>
                <a:ea typeface="Cambria" pitchFamily="34" charset="-122"/>
                <a:cs typeface="Cambria" pitchFamily="34" charset="-120"/>
              </a:rPr>
              <a:t>AUTOMOBILE</a:t>
            </a:r>
            <a:endParaRPr lang="en-US" sz="2800" dirty="0"/>
          </a:p>
        </p:txBody>
      </p:sp>
      <p:sp>
        <p:nvSpPr>
          <p:cNvPr id="4" name="Text 2"/>
          <p:cNvSpPr txBox="1"/>
          <p:nvPr/>
        </p:nvSpPr>
        <p:spPr>
          <a:xfrm>
            <a:off x="457200" y="4160520"/>
            <a:ext cx="3474720" cy="365760"/>
          </a:xfrm>
          <a:prstGeom prst="rect">
            <a:avLst/>
          </a:prstGeom>
          <a:noFill/>
          <a:ln/>
        </p:spPr>
        <p:txBody>
          <a:bodyPr wrap="square" lIns="0" tIns="0" rIns="0" bIns="0" rtlCol="0" anchor="ctr"/>
          <a:lstStyle/>
          <a:p>
            <a:pPr indent="0" marL="0">
              <a:buNone/>
            </a:pPr>
            <a:r>
              <a:rPr lang="en-US" sz="1300" i="1" dirty="0">
                <a:solidFill>
                  <a:srgbClr val="F2C6CC"/>
                </a:solidFill>
                <a:latin typeface="Calibri" pitchFamily="34" charset="0"/>
                <a:ea typeface="Calibri" pitchFamily="34" charset="-122"/>
                <a:cs typeface="Calibri" pitchFamily="34" charset="-120"/>
              </a:rPr>
              <a:t>Part of the Mahindra Group</a:t>
            </a:r>
            <a:endParaRPr lang="en-US" sz="1300" dirty="0"/>
          </a:p>
        </p:txBody>
      </p:sp>
      <p:sp>
        <p:nvSpPr>
          <p:cNvPr id="5" name="Text 3"/>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C6CC"/>
                </a:solidFill>
                <a:latin typeface="Calibri" pitchFamily="34" charset="0"/>
                <a:ea typeface="Calibri" pitchFamily="34" charset="-122"/>
                <a:cs typeface="Calibri" pitchFamily="34" charset="-120"/>
              </a:rPr>
              <a:t>02 · ORGANIZATION PROFILE</a:t>
            </a:r>
            <a:endParaRPr lang="en-US" sz="1200" dirty="0"/>
          </a:p>
        </p:txBody>
      </p:sp>
      <p:sp>
        <p:nvSpPr>
          <p:cNvPr id="6" name="Text 4"/>
          <p:cNvSpPr txBox="1"/>
          <p:nvPr/>
        </p:nvSpPr>
        <p:spPr>
          <a:xfrm>
            <a:off x="4663440" y="777240"/>
            <a:ext cx="6949440" cy="82296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 Large-Scale Automotive &amp; Mobility Environment</a:t>
            </a:r>
            <a:endParaRPr lang="en-US" sz="2400" dirty="0"/>
          </a:p>
        </p:txBody>
      </p:sp>
      <p:sp>
        <p:nvSpPr>
          <p:cNvPr id="7" name="Shape 5"/>
          <p:cNvSpPr/>
          <p:nvPr/>
        </p:nvSpPr>
        <p:spPr>
          <a:xfrm>
            <a:off x="4663440" y="1883664"/>
            <a:ext cx="128016" cy="128016"/>
          </a:xfrm>
          <a:prstGeom prst="ellipse">
            <a:avLst/>
          </a:prstGeom>
          <a:solidFill>
            <a:srgbClr val="FFFFFF"/>
          </a:solidFill>
          <a:ln/>
        </p:spPr>
      </p:sp>
      <p:sp>
        <p:nvSpPr>
          <p:cNvPr id="8" name="Text 6"/>
          <p:cNvSpPr txBox="1"/>
          <p:nvPr/>
        </p:nvSpPr>
        <p:spPr>
          <a:xfrm>
            <a:off x="4983480" y="1783080"/>
            <a:ext cx="63093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Services</a:t>
            </a:r>
            <a:endParaRPr lang="en-US" sz="1400" dirty="0"/>
          </a:p>
        </p:txBody>
      </p:sp>
      <p:sp>
        <p:nvSpPr>
          <p:cNvPr id="9" name="Text 7"/>
          <p:cNvSpPr txBox="1"/>
          <p:nvPr/>
        </p:nvSpPr>
        <p:spPr>
          <a:xfrm>
            <a:off x="4983480" y="2103120"/>
            <a:ext cx="6583680" cy="594360"/>
          </a:xfrm>
          <a:prstGeom prst="rect">
            <a:avLst/>
          </a:prstGeom>
          <a:noFill/>
          <a:ln/>
        </p:spPr>
        <p:txBody>
          <a:bodyPr wrap="square" lIns="0" tIns="0" rIns="0" bIns="0" rtlCol="0" anchor="ctr"/>
          <a:lstStyle/>
          <a:p>
            <a:pPr indent="0" marL="0">
              <a:lnSpc>
                <a:spcPct val="115000"/>
              </a:lnSpc>
              <a:buNone/>
            </a:pPr>
            <a:r>
              <a:rPr lang="en-US" sz="1250" dirty="0">
                <a:solidFill>
                  <a:srgbClr val="F2C6CC"/>
                </a:solidFill>
                <a:latin typeface="Calibri" pitchFamily="34" charset="0"/>
                <a:ea typeface="Calibri" pitchFamily="34" charset="-122"/>
                <a:cs typeface="Calibri" pitchFamily="34" charset="-120"/>
              </a:rPr>
              <a:t>IT, digital transformation, enterprise solutions, engineering &amp; business process services</a:t>
            </a:r>
            <a:endParaRPr lang="en-US" sz="1250" dirty="0"/>
          </a:p>
        </p:txBody>
      </p:sp>
      <p:sp>
        <p:nvSpPr>
          <p:cNvPr id="10" name="Shape 8"/>
          <p:cNvSpPr/>
          <p:nvPr/>
        </p:nvSpPr>
        <p:spPr>
          <a:xfrm>
            <a:off x="4663440" y="2935224"/>
            <a:ext cx="128016" cy="128016"/>
          </a:xfrm>
          <a:prstGeom prst="ellipse">
            <a:avLst/>
          </a:prstGeom>
          <a:solidFill>
            <a:srgbClr val="FFFFFF"/>
          </a:solidFill>
          <a:ln/>
        </p:spPr>
      </p:sp>
      <p:sp>
        <p:nvSpPr>
          <p:cNvPr id="11" name="Text 9"/>
          <p:cNvSpPr txBox="1"/>
          <p:nvPr/>
        </p:nvSpPr>
        <p:spPr>
          <a:xfrm>
            <a:off x="4983480" y="2834640"/>
            <a:ext cx="63093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Collaboration</a:t>
            </a:r>
            <a:endParaRPr lang="en-US" sz="1400" dirty="0"/>
          </a:p>
        </p:txBody>
      </p:sp>
      <p:sp>
        <p:nvSpPr>
          <p:cNvPr id="12" name="Text 10"/>
          <p:cNvSpPr txBox="1"/>
          <p:nvPr/>
        </p:nvSpPr>
        <p:spPr>
          <a:xfrm>
            <a:off x="4983480" y="3154680"/>
            <a:ext cx="6583680" cy="594360"/>
          </a:xfrm>
          <a:prstGeom prst="rect">
            <a:avLst/>
          </a:prstGeom>
          <a:noFill/>
          <a:ln/>
        </p:spPr>
        <p:txBody>
          <a:bodyPr wrap="square" lIns="0" tIns="0" rIns="0" bIns="0" rtlCol="0" anchor="ctr"/>
          <a:lstStyle/>
          <a:p>
            <a:pPr indent="0" marL="0">
              <a:lnSpc>
                <a:spcPct val="115000"/>
              </a:lnSpc>
              <a:buNone/>
            </a:pPr>
            <a:r>
              <a:rPr lang="en-US" sz="1250" dirty="0">
                <a:solidFill>
                  <a:srgbClr val="F2C6CC"/>
                </a:solidFill>
                <a:latin typeface="Calibri" pitchFamily="34" charset="0"/>
                <a:ea typeface="Calibri" pitchFamily="34" charset="-122"/>
                <a:cs typeface="Calibri" pitchFamily="34" charset="-120"/>
              </a:rPr>
              <a:t>Developers, testers, analysts, infrastructure teams, project managers &amp; stakeholders</a:t>
            </a:r>
            <a:endParaRPr lang="en-US" sz="1250" dirty="0"/>
          </a:p>
        </p:txBody>
      </p:sp>
      <p:sp>
        <p:nvSpPr>
          <p:cNvPr id="13" name="Shape 11"/>
          <p:cNvSpPr/>
          <p:nvPr/>
        </p:nvSpPr>
        <p:spPr>
          <a:xfrm>
            <a:off x="4663440" y="3986784"/>
            <a:ext cx="128016" cy="128016"/>
          </a:xfrm>
          <a:prstGeom prst="ellipse">
            <a:avLst/>
          </a:prstGeom>
          <a:solidFill>
            <a:srgbClr val="FFFFFF"/>
          </a:solidFill>
          <a:ln/>
        </p:spPr>
      </p:sp>
      <p:sp>
        <p:nvSpPr>
          <p:cNvPr id="14" name="Text 12"/>
          <p:cNvSpPr txBox="1"/>
          <p:nvPr/>
        </p:nvSpPr>
        <p:spPr>
          <a:xfrm>
            <a:off x="4983480" y="3886200"/>
            <a:ext cx="63093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Process discipline</a:t>
            </a:r>
            <a:endParaRPr lang="en-US" sz="1400" dirty="0"/>
          </a:p>
        </p:txBody>
      </p:sp>
      <p:sp>
        <p:nvSpPr>
          <p:cNvPr id="15" name="Text 13"/>
          <p:cNvSpPr txBox="1"/>
          <p:nvPr/>
        </p:nvSpPr>
        <p:spPr>
          <a:xfrm>
            <a:off x="4983480" y="4206240"/>
            <a:ext cx="6583680" cy="594360"/>
          </a:xfrm>
          <a:prstGeom prst="rect">
            <a:avLst/>
          </a:prstGeom>
          <a:noFill/>
          <a:ln/>
        </p:spPr>
        <p:txBody>
          <a:bodyPr wrap="square" lIns="0" tIns="0" rIns="0" bIns="0" rtlCol="0" anchor="ctr"/>
          <a:lstStyle/>
          <a:p>
            <a:pPr indent="0" marL="0">
              <a:lnSpc>
                <a:spcPct val="115000"/>
              </a:lnSpc>
              <a:buNone/>
            </a:pPr>
            <a:r>
              <a:rPr lang="en-US" sz="1250" dirty="0">
                <a:solidFill>
                  <a:srgbClr val="F2C6CC"/>
                </a:solidFill>
                <a:latin typeface="Calibri" pitchFamily="34" charset="0"/>
                <a:ea typeface="Calibri" pitchFamily="34" charset="-122"/>
                <a:cs typeface="Calibri" pitchFamily="34" charset="-120"/>
              </a:rPr>
              <a:t>Defined workflows for requirements, development, testing, deployment &amp; support</a:t>
            </a:r>
            <a:endParaRPr lang="en-US" sz="1250" dirty="0"/>
          </a:p>
        </p:txBody>
      </p:sp>
      <p:sp>
        <p:nvSpPr>
          <p:cNvPr id="16" name="Shape 14"/>
          <p:cNvSpPr/>
          <p:nvPr/>
        </p:nvSpPr>
        <p:spPr>
          <a:xfrm>
            <a:off x="4663440" y="5038344"/>
            <a:ext cx="128016" cy="128016"/>
          </a:xfrm>
          <a:prstGeom prst="ellipse">
            <a:avLst/>
          </a:prstGeom>
          <a:solidFill>
            <a:srgbClr val="FFFFFF"/>
          </a:solidFill>
          <a:ln/>
        </p:spPr>
      </p:sp>
      <p:sp>
        <p:nvSpPr>
          <p:cNvPr id="17" name="Text 15"/>
          <p:cNvSpPr txBox="1"/>
          <p:nvPr/>
        </p:nvSpPr>
        <p:spPr>
          <a:xfrm>
            <a:off x="4983480" y="4937760"/>
            <a:ext cx="63093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Intern exposure</a:t>
            </a:r>
            <a:endParaRPr lang="en-US" sz="1400" dirty="0"/>
          </a:p>
        </p:txBody>
      </p:sp>
      <p:sp>
        <p:nvSpPr>
          <p:cNvPr id="18" name="Text 16"/>
          <p:cNvSpPr txBox="1"/>
          <p:nvPr/>
        </p:nvSpPr>
        <p:spPr>
          <a:xfrm>
            <a:off x="4983480" y="5257800"/>
            <a:ext cx="6583680" cy="594360"/>
          </a:xfrm>
          <a:prstGeom prst="rect">
            <a:avLst/>
          </a:prstGeom>
          <a:noFill/>
          <a:ln/>
        </p:spPr>
        <p:txBody>
          <a:bodyPr wrap="square" lIns="0" tIns="0" rIns="0" bIns="0" rtlCol="0" anchor="ctr"/>
          <a:lstStyle/>
          <a:p>
            <a:pPr indent="0" marL="0">
              <a:lnSpc>
                <a:spcPct val="115000"/>
              </a:lnSpc>
              <a:buNone/>
            </a:pPr>
            <a:r>
              <a:rPr lang="en-US" sz="1250" dirty="0">
                <a:solidFill>
                  <a:srgbClr val="F2C6CC"/>
                </a:solidFill>
                <a:latin typeface="Calibri" pitchFamily="34" charset="0"/>
                <a:ea typeface="Calibri" pitchFamily="34" charset="-122"/>
                <a:cs typeface="Calibri" pitchFamily="34" charset="-120"/>
              </a:rPr>
              <a:t>Version control, issue tracking, testing discipline, documentation &amp; security awareness</a:t>
            </a:r>
            <a:endParaRPr lang="en-US" sz="1250" dirty="0"/>
          </a:p>
        </p:txBody>
      </p:sp>
      <p:sp>
        <p:nvSpPr>
          <p:cNvPr id="19" name="Text 17"/>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FCF6F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03 · PROBLEM STATEMENT</a:t>
            </a:r>
            <a:endParaRPr lang="en-US" sz="12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Turning Requests Into Reliable Outcomes</a:t>
            </a:r>
            <a:endParaRPr lang="en-US" sz="3200" dirty="0"/>
          </a:p>
        </p:txBody>
      </p:sp>
      <p:sp>
        <p:nvSpPr>
          <p:cNvPr id="4" name="Text 2"/>
          <p:cNvSpPr txBox="1"/>
          <p:nvPr/>
        </p:nvSpPr>
        <p:spPr>
          <a:xfrm>
            <a:off x="548640" y="1737360"/>
            <a:ext cx="5486400" cy="365760"/>
          </a:xfrm>
          <a:prstGeom prst="rect">
            <a:avLst/>
          </a:prstGeom>
          <a:noFill/>
          <a:ln/>
        </p:spPr>
        <p:txBody>
          <a:bodyPr wrap="square" lIns="0" tIns="0" rIns="0" bIns="0"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The Challenge</a:t>
            </a:r>
            <a:endParaRPr lang="en-US" sz="1500" dirty="0"/>
          </a:p>
        </p:txBody>
      </p:sp>
      <p:sp>
        <p:nvSpPr>
          <p:cNvPr id="5" name="Text 3"/>
          <p:cNvSpPr txBox="1"/>
          <p:nvPr/>
        </p:nvSpPr>
        <p:spPr>
          <a:xfrm>
            <a:off x="548640" y="2103120"/>
            <a:ext cx="5760720" cy="2103120"/>
          </a:xfrm>
          <a:prstGeom prst="rect">
            <a:avLst/>
          </a:prstGeom>
          <a:noFill/>
          <a:ln/>
        </p:spPr>
        <p:txBody>
          <a:bodyPr wrap="square" lIns="0" tIns="0" rIns="0" bIns="0" rtlCol="0" anchor="ctr"/>
          <a:lstStyle/>
          <a:p>
            <a:pPr indent="0" marL="0">
              <a:lnSpc>
                <a:spcPct val="130000"/>
              </a:lnSpc>
              <a:buNone/>
            </a:pPr>
            <a:r>
              <a:rPr lang="en-US" sz="1350" dirty="0">
                <a:solidFill>
                  <a:srgbClr val="1A1A1A"/>
                </a:solidFill>
                <a:latin typeface="Calibri" pitchFamily="34" charset="0"/>
                <a:ea typeface="Calibri" pitchFamily="34" charset="-122"/>
                <a:cs typeface="Calibri" pitchFamily="34" charset="-120"/>
              </a:rPr>
              <a:t>In a professional automotive &amp; IT environment, technical tasks must be completed systematically — requirements understood correctly, issues analysed efficiently, and solutions tested and documented. A junior team member handles requests spanning application functionality, data handling, troubleshooting, testing and documentation.</a:t>
            </a:r>
            <a:endParaRPr lang="en-US" sz="1350" dirty="0"/>
          </a:p>
        </p:txBody>
      </p:sp>
      <p:sp>
        <p:nvSpPr>
          <p:cNvPr id="6" name="Text 4"/>
          <p:cNvSpPr txBox="1"/>
          <p:nvPr/>
        </p:nvSpPr>
        <p:spPr>
          <a:xfrm>
            <a:off x="548640" y="4343400"/>
            <a:ext cx="5760720" cy="1097280"/>
          </a:xfrm>
          <a:prstGeom prst="rect">
            <a:avLst/>
          </a:prstGeom>
          <a:noFill/>
          <a:ln/>
        </p:spPr>
        <p:txBody>
          <a:bodyPr wrap="square" lIns="0" tIns="0" rIns="0" bIns="0" rtlCol="0" anchor="ctr"/>
          <a:lstStyle/>
          <a:p>
            <a:pPr indent="0" marL="0">
              <a:lnSpc>
                <a:spcPct val="130000"/>
              </a:lnSpc>
              <a:buNone/>
            </a:pPr>
            <a:r>
              <a:rPr lang="en-US" sz="1350" i="1" dirty="0">
                <a:solidFill>
                  <a:srgbClr val="990011"/>
                </a:solidFill>
                <a:latin typeface="Calibri" pitchFamily="34" charset="0"/>
                <a:ea typeface="Calibri" pitchFamily="34" charset="-122"/>
                <a:cs typeface="Calibri" pitchFamily="34" charset="-120"/>
              </a:rPr>
              <a:t>Key challenge: convert a reported requirement or issue into a clear technical task, analyse it, apply a solution, verify the result, and record the outcome for the team.</a:t>
            </a:r>
            <a:endParaRPr lang="en-US" sz="1350" dirty="0"/>
          </a:p>
        </p:txBody>
      </p:sp>
      <p:sp>
        <p:nvSpPr>
          <p:cNvPr id="7" name="Text 5"/>
          <p:cNvSpPr txBox="1"/>
          <p:nvPr/>
        </p:nvSpPr>
        <p:spPr>
          <a:xfrm>
            <a:off x="548640" y="5394960"/>
            <a:ext cx="5486400" cy="274320"/>
          </a:xfrm>
          <a:prstGeom prst="rect">
            <a:avLst/>
          </a:prstGeom>
          <a:noFill/>
          <a:ln/>
        </p:spPr>
        <p:txBody>
          <a:bodyPr wrap="square" lIns="0" tIns="0" rIns="0" bIns="0" rtlCol="0" anchor="ctr"/>
          <a:lstStyle/>
          <a:p>
            <a:pPr indent="0" marL="0">
              <a:buNone/>
            </a:pPr>
            <a:r>
              <a:rPr lang="en-US" sz="1050" b="1" spc="150" kern="0" dirty="0">
                <a:solidFill>
                  <a:srgbClr val="2F3C7E"/>
                </a:solidFill>
                <a:latin typeface="Calibri" pitchFamily="34" charset="0"/>
                <a:ea typeface="Calibri" pitchFamily="34" charset="-122"/>
                <a:cs typeface="Calibri" pitchFamily="34" charset="-120"/>
              </a:rPr>
              <a:t>CORE ACTIVITIES</a:t>
            </a:r>
            <a:endParaRPr lang="en-US" sz="1050" dirty="0"/>
          </a:p>
        </p:txBody>
      </p:sp>
      <p:sp>
        <p:nvSpPr>
          <p:cNvPr id="8" name="Shape 6"/>
          <p:cNvSpPr/>
          <p:nvPr/>
        </p:nvSpPr>
        <p:spPr>
          <a:xfrm>
            <a:off x="548640" y="5715000"/>
            <a:ext cx="1472184" cy="384048"/>
          </a:xfrm>
          <a:prstGeom prst="roundRect">
            <a:avLst>
              <a:gd name="adj" fmla="val 50000"/>
            </a:avLst>
          </a:prstGeom>
          <a:solidFill>
            <a:srgbClr val="F2E1E3"/>
          </a:solidFill>
          <a:ln/>
        </p:spPr>
      </p:sp>
      <p:sp>
        <p:nvSpPr>
          <p:cNvPr id="9" name="Text 7"/>
          <p:cNvSpPr txBox="1"/>
          <p:nvPr/>
        </p:nvSpPr>
        <p:spPr>
          <a:xfrm>
            <a:off x="548640" y="5715000"/>
            <a:ext cx="1472184" cy="384048"/>
          </a:xfrm>
          <a:prstGeom prst="rect">
            <a:avLst/>
          </a:prstGeom>
          <a:noFill/>
          <a:ln/>
        </p:spPr>
        <p:txBody>
          <a:bodyPr wrap="square" lIns="0" tIns="0" rIns="0" bIns="0" rtlCol="0" anchor="ctr"/>
          <a:lstStyle/>
          <a:p>
            <a:pPr algn="ctr" indent="0" marL="0">
              <a:buNone/>
            </a:pPr>
            <a:r>
              <a:rPr lang="en-US" sz="1050" b="1" dirty="0">
                <a:solidFill>
                  <a:srgbClr val="990011"/>
                </a:solidFill>
                <a:latin typeface="Calibri" pitchFamily="34" charset="0"/>
                <a:ea typeface="Calibri" pitchFamily="34" charset="-122"/>
                <a:cs typeface="Calibri" pitchFamily="34" charset="-120"/>
              </a:rPr>
              <a:t>Issue Analysis</a:t>
            </a:r>
            <a:endParaRPr lang="en-US" sz="1050" dirty="0"/>
          </a:p>
        </p:txBody>
      </p:sp>
      <p:sp>
        <p:nvSpPr>
          <p:cNvPr id="10" name="Shape 8"/>
          <p:cNvSpPr/>
          <p:nvPr/>
        </p:nvSpPr>
        <p:spPr>
          <a:xfrm>
            <a:off x="2185416" y="5715000"/>
            <a:ext cx="1389888" cy="384048"/>
          </a:xfrm>
          <a:prstGeom prst="roundRect">
            <a:avLst>
              <a:gd name="adj" fmla="val 50000"/>
            </a:avLst>
          </a:prstGeom>
          <a:solidFill>
            <a:srgbClr val="F2E1E3"/>
          </a:solidFill>
          <a:ln/>
        </p:spPr>
      </p:sp>
      <p:sp>
        <p:nvSpPr>
          <p:cNvPr id="11" name="Text 9"/>
          <p:cNvSpPr txBox="1"/>
          <p:nvPr/>
        </p:nvSpPr>
        <p:spPr>
          <a:xfrm>
            <a:off x="2185416" y="5715000"/>
            <a:ext cx="1389888" cy="384048"/>
          </a:xfrm>
          <a:prstGeom prst="rect">
            <a:avLst/>
          </a:prstGeom>
          <a:noFill/>
          <a:ln/>
        </p:spPr>
        <p:txBody>
          <a:bodyPr wrap="square" lIns="0" tIns="0" rIns="0" bIns="0" rtlCol="0" anchor="ctr"/>
          <a:lstStyle/>
          <a:p>
            <a:pPr algn="ctr" indent="0" marL="0">
              <a:buNone/>
            </a:pPr>
            <a:r>
              <a:rPr lang="en-US" sz="1050" b="1" dirty="0">
                <a:solidFill>
                  <a:srgbClr val="990011"/>
                </a:solidFill>
                <a:latin typeface="Calibri" pitchFamily="34" charset="0"/>
                <a:ea typeface="Calibri" pitchFamily="34" charset="-122"/>
                <a:cs typeface="Calibri" pitchFamily="34" charset="-120"/>
              </a:rPr>
              <a:t>Documentation</a:t>
            </a:r>
            <a:endParaRPr lang="en-US" sz="1050" dirty="0"/>
          </a:p>
        </p:txBody>
      </p:sp>
      <p:sp>
        <p:nvSpPr>
          <p:cNvPr id="12" name="Shape 10"/>
          <p:cNvSpPr/>
          <p:nvPr/>
        </p:nvSpPr>
        <p:spPr>
          <a:xfrm>
            <a:off x="3739896" y="5715000"/>
            <a:ext cx="896112" cy="384048"/>
          </a:xfrm>
          <a:prstGeom prst="roundRect">
            <a:avLst>
              <a:gd name="adj" fmla="val 50000"/>
            </a:avLst>
          </a:prstGeom>
          <a:solidFill>
            <a:srgbClr val="F2E1E3"/>
          </a:solidFill>
          <a:ln/>
        </p:spPr>
      </p:sp>
      <p:sp>
        <p:nvSpPr>
          <p:cNvPr id="13" name="Text 11"/>
          <p:cNvSpPr txBox="1"/>
          <p:nvPr/>
        </p:nvSpPr>
        <p:spPr>
          <a:xfrm>
            <a:off x="3739896" y="5715000"/>
            <a:ext cx="896112" cy="384048"/>
          </a:xfrm>
          <a:prstGeom prst="rect">
            <a:avLst/>
          </a:prstGeom>
          <a:noFill/>
          <a:ln/>
        </p:spPr>
        <p:txBody>
          <a:bodyPr wrap="square" lIns="0" tIns="0" rIns="0" bIns="0" rtlCol="0" anchor="ctr"/>
          <a:lstStyle/>
          <a:p>
            <a:pPr algn="ctr" indent="0" marL="0">
              <a:buNone/>
            </a:pPr>
            <a:r>
              <a:rPr lang="en-US" sz="1050" b="1" dirty="0">
                <a:solidFill>
                  <a:srgbClr val="990011"/>
                </a:solidFill>
                <a:latin typeface="Calibri" pitchFamily="34" charset="0"/>
                <a:ea typeface="Calibri" pitchFamily="34" charset="-122"/>
                <a:cs typeface="Calibri" pitchFamily="34" charset="-120"/>
              </a:rPr>
              <a:t>Testing</a:t>
            </a:r>
            <a:endParaRPr lang="en-US" sz="1050" dirty="0"/>
          </a:p>
        </p:txBody>
      </p:sp>
      <p:sp>
        <p:nvSpPr>
          <p:cNvPr id="14" name="Shape 12"/>
          <p:cNvSpPr/>
          <p:nvPr/>
        </p:nvSpPr>
        <p:spPr>
          <a:xfrm>
            <a:off x="4800600" y="5715000"/>
            <a:ext cx="978408" cy="384048"/>
          </a:xfrm>
          <a:prstGeom prst="roundRect">
            <a:avLst>
              <a:gd name="adj" fmla="val 50000"/>
            </a:avLst>
          </a:prstGeom>
          <a:solidFill>
            <a:srgbClr val="F2E1E3"/>
          </a:solidFill>
          <a:ln/>
        </p:spPr>
      </p:sp>
      <p:sp>
        <p:nvSpPr>
          <p:cNvPr id="15" name="Text 13"/>
          <p:cNvSpPr txBox="1"/>
          <p:nvPr/>
        </p:nvSpPr>
        <p:spPr>
          <a:xfrm>
            <a:off x="4800600" y="5715000"/>
            <a:ext cx="978408" cy="384048"/>
          </a:xfrm>
          <a:prstGeom prst="rect">
            <a:avLst/>
          </a:prstGeom>
          <a:noFill/>
          <a:ln/>
        </p:spPr>
        <p:txBody>
          <a:bodyPr wrap="square" lIns="0" tIns="0" rIns="0" bIns="0" rtlCol="0" anchor="ctr"/>
          <a:lstStyle/>
          <a:p>
            <a:pPr algn="ctr" indent="0" marL="0">
              <a:buNone/>
            </a:pPr>
            <a:r>
              <a:rPr lang="en-US" sz="1050" b="1" dirty="0">
                <a:solidFill>
                  <a:srgbClr val="990011"/>
                </a:solidFill>
                <a:latin typeface="Calibri" pitchFamily="34" charset="0"/>
                <a:ea typeface="Calibri" pitchFamily="34" charset="-122"/>
                <a:cs typeface="Calibri" pitchFamily="34" charset="-120"/>
              </a:rPr>
              <a:t>Teamwork</a:t>
            </a:r>
            <a:endParaRPr lang="en-US" sz="1050" dirty="0"/>
          </a:p>
        </p:txBody>
      </p:sp>
      <p:sp>
        <p:nvSpPr>
          <p:cNvPr id="16" name="Shape 14"/>
          <p:cNvSpPr/>
          <p:nvPr/>
        </p:nvSpPr>
        <p:spPr>
          <a:xfrm>
            <a:off x="6949440" y="1920240"/>
            <a:ext cx="4663440" cy="685800"/>
          </a:xfrm>
          <a:prstGeom prst="roundRect">
            <a:avLst>
              <a:gd name="adj" fmla="val 13333"/>
            </a:avLst>
          </a:prstGeom>
          <a:solidFill>
            <a:srgbClr val="FFFFFF"/>
          </a:solidFill>
          <a:ln w="12700">
            <a:solidFill>
              <a:srgbClr val="E3B4B9"/>
            </a:solidFill>
            <a:prstDash val="solid"/>
          </a:ln>
        </p:spPr>
      </p:sp>
      <p:sp>
        <p:nvSpPr>
          <p:cNvPr id="17" name="Shape 15"/>
          <p:cNvSpPr/>
          <p:nvPr/>
        </p:nvSpPr>
        <p:spPr>
          <a:xfrm>
            <a:off x="7086600" y="2034540"/>
            <a:ext cx="457200" cy="457200"/>
          </a:xfrm>
          <a:prstGeom prst="ellipse">
            <a:avLst/>
          </a:prstGeom>
          <a:solidFill>
            <a:srgbClr val="990011"/>
          </a:solidFill>
          <a:ln/>
        </p:spPr>
      </p:sp>
      <p:sp>
        <p:nvSpPr>
          <p:cNvPr id="18" name="Text 16"/>
          <p:cNvSpPr txBox="1"/>
          <p:nvPr/>
        </p:nvSpPr>
        <p:spPr>
          <a:xfrm>
            <a:off x="7086600" y="20345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9" name="Text 17"/>
          <p:cNvSpPr txBox="1"/>
          <p:nvPr/>
        </p:nvSpPr>
        <p:spPr>
          <a:xfrm>
            <a:off x="7726680" y="1920240"/>
            <a:ext cx="3657600" cy="6858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Understand</a:t>
            </a:r>
            <a:endParaRPr lang="en-US" sz="1400" dirty="0"/>
          </a:p>
        </p:txBody>
      </p:sp>
      <p:sp>
        <p:nvSpPr>
          <p:cNvPr id="20" name="Text 18"/>
          <p:cNvSpPr txBox="1"/>
          <p:nvPr/>
        </p:nvSpPr>
        <p:spPr>
          <a:xfrm>
            <a:off x="7159752" y="2578608"/>
            <a:ext cx="365760" cy="256032"/>
          </a:xfrm>
          <a:prstGeom prst="rect">
            <a:avLst/>
          </a:prstGeom>
          <a:noFill/>
          <a:ln/>
        </p:spPr>
        <p:txBody>
          <a:bodyPr wrap="square" lIns="0" tIns="0" rIns="0" bIns="0" rtlCol="0" anchor="ctr"/>
          <a:lstStyle/>
          <a:p>
            <a:pPr algn="ctr" indent="0" marL="0">
              <a:buNone/>
            </a:pPr>
            <a:r>
              <a:rPr lang="en-US" sz="1400" dirty="0">
                <a:solidFill>
                  <a:srgbClr val="990011"/>
                </a:solidFill>
              </a:rPr>
              <a:t>↓</a:t>
            </a:r>
            <a:endParaRPr lang="en-US" sz="1400" dirty="0"/>
          </a:p>
        </p:txBody>
      </p:sp>
      <p:sp>
        <p:nvSpPr>
          <p:cNvPr id="21" name="Shape 19"/>
          <p:cNvSpPr/>
          <p:nvPr/>
        </p:nvSpPr>
        <p:spPr>
          <a:xfrm>
            <a:off x="6949440" y="2834640"/>
            <a:ext cx="4663440" cy="685800"/>
          </a:xfrm>
          <a:prstGeom prst="roundRect">
            <a:avLst>
              <a:gd name="adj" fmla="val 13333"/>
            </a:avLst>
          </a:prstGeom>
          <a:solidFill>
            <a:srgbClr val="FFFFFF"/>
          </a:solidFill>
          <a:ln w="12700">
            <a:solidFill>
              <a:srgbClr val="E3B4B9"/>
            </a:solidFill>
            <a:prstDash val="solid"/>
          </a:ln>
        </p:spPr>
      </p:sp>
      <p:sp>
        <p:nvSpPr>
          <p:cNvPr id="22" name="Shape 20"/>
          <p:cNvSpPr/>
          <p:nvPr/>
        </p:nvSpPr>
        <p:spPr>
          <a:xfrm>
            <a:off x="7086600" y="2948940"/>
            <a:ext cx="457200" cy="457200"/>
          </a:xfrm>
          <a:prstGeom prst="ellipse">
            <a:avLst/>
          </a:prstGeom>
          <a:solidFill>
            <a:srgbClr val="990011"/>
          </a:solidFill>
          <a:ln/>
        </p:spPr>
      </p:sp>
      <p:sp>
        <p:nvSpPr>
          <p:cNvPr id="23" name="Text 21"/>
          <p:cNvSpPr txBox="1"/>
          <p:nvPr/>
        </p:nvSpPr>
        <p:spPr>
          <a:xfrm>
            <a:off x="7086600" y="29489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4" name="Text 22"/>
          <p:cNvSpPr txBox="1"/>
          <p:nvPr/>
        </p:nvSpPr>
        <p:spPr>
          <a:xfrm>
            <a:off x="7726680" y="2834640"/>
            <a:ext cx="3657600" cy="6858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Plan</a:t>
            </a:r>
            <a:endParaRPr lang="en-US" sz="1400" dirty="0"/>
          </a:p>
        </p:txBody>
      </p:sp>
      <p:sp>
        <p:nvSpPr>
          <p:cNvPr id="25" name="Text 23"/>
          <p:cNvSpPr txBox="1"/>
          <p:nvPr/>
        </p:nvSpPr>
        <p:spPr>
          <a:xfrm>
            <a:off x="7159752" y="3493008"/>
            <a:ext cx="365760" cy="256032"/>
          </a:xfrm>
          <a:prstGeom prst="rect">
            <a:avLst/>
          </a:prstGeom>
          <a:noFill/>
          <a:ln/>
        </p:spPr>
        <p:txBody>
          <a:bodyPr wrap="square" lIns="0" tIns="0" rIns="0" bIns="0" rtlCol="0" anchor="ctr"/>
          <a:lstStyle/>
          <a:p>
            <a:pPr algn="ctr" indent="0" marL="0">
              <a:buNone/>
            </a:pPr>
            <a:r>
              <a:rPr lang="en-US" sz="1400" dirty="0">
                <a:solidFill>
                  <a:srgbClr val="990011"/>
                </a:solidFill>
              </a:rPr>
              <a:t>↓</a:t>
            </a:r>
            <a:endParaRPr lang="en-US" sz="1400" dirty="0"/>
          </a:p>
        </p:txBody>
      </p:sp>
      <p:sp>
        <p:nvSpPr>
          <p:cNvPr id="26" name="Shape 24"/>
          <p:cNvSpPr/>
          <p:nvPr/>
        </p:nvSpPr>
        <p:spPr>
          <a:xfrm>
            <a:off x="6949440" y="3749040"/>
            <a:ext cx="4663440" cy="685800"/>
          </a:xfrm>
          <a:prstGeom prst="roundRect">
            <a:avLst>
              <a:gd name="adj" fmla="val 13333"/>
            </a:avLst>
          </a:prstGeom>
          <a:solidFill>
            <a:srgbClr val="FFFFFF"/>
          </a:solidFill>
          <a:ln w="12700">
            <a:solidFill>
              <a:srgbClr val="E3B4B9"/>
            </a:solidFill>
            <a:prstDash val="solid"/>
          </a:ln>
        </p:spPr>
      </p:sp>
      <p:sp>
        <p:nvSpPr>
          <p:cNvPr id="27" name="Shape 25"/>
          <p:cNvSpPr/>
          <p:nvPr/>
        </p:nvSpPr>
        <p:spPr>
          <a:xfrm>
            <a:off x="7086600" y="3863340"/>
            <a:ext cx="457200" cy="457200"/>
          </a:xfrm>
          <a:prstGeom prst="ellipse">
            <a:avLst/>
          </a:prstGeom>
          <a:solidFill>
            <a:srgbClr val="990011"/>
          </a:solidFill>
          <a:ln/>
        </p:spPr>
      </p:sp>
      <p:sp>
        <p:nvSpPr>
          <p:cNvPr id="28" name="Text 26"/>
          <p:cNvSpPr txBox="1"/>
          <p:nvPr/>
        </p:nvSpPr>
        <p:spPr>
          <a:xfrm>
            <a:off x="7086600" y="38633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9" name="Text 27"/>
          <p:cNvSpPr txBox="1"/>
          <p:nvPr/>
        </p:nvSpPr>
        <p:spPr>
          <a:xfrm>
            <a:off x="7726680" y="3749040"/>
            <a:ext cx="3657600" cy="6858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Build</a:t>
            </a:r>
            <a:endParaRPr lang="en-US" sz="1400" dirty="0"/>
          </a:p>
        </p:txBody>
      </p:sp>
      <p:sp>
        <p:nvSpPr>
          <p:cNvPr id="30" name="Text 28"/>
          <p:cNvSpPr txBox="1"/>
          <p:nvPr/>
        </p:nvSpPr>
        <p:spPr>
          <a:xfrm>
            <a:off x="7159752" y="4407408"/>
            <a:ext cx="365760" cy="256032"/>
          </a:xfrm>
          <a:prstGeom prst="rect">
            <a:avLst/>
          </a:prstGeom>
          <a:noFill/>
          <a:ln/>
        </p:spPr>
        <p:txBody>
          <a:bodyPr wrap="square" lIns="0" tIns="0" rIns="0" bIns="0" rtlCol="0" anchor="ctr"/>
          <a:lstStyle/>
          <a:p>
            <a:pPr algn="ctr" indent="0" marL="0">
              <a:buNone/>
            </a:pPr>
            <a:r>
              <a:rPr lang="en-US" sz="1400" dirty="0">
                <a:solidFill>
                  <a:srgbClr val="990011"/>
                </a:solidFill>
              </a:rPr>
              <a:t>↓</a:t>
            </a:r>
            <a:endParaRPr lang="en-US" sz="1400" dirty="0"/>
          </a:p>
        </p:txBody>
      </p:sp>
      <p:sp>
        <p:nvSpPr>
          <p:cNvPr id="31" name="Shape 29"/>
          <p:cNvSpPr/>
          <p:nvPr/>
        </p:nvSpPr>
        <p:spPr>
          <a:xfrm>
            <a:off x="6949440" y="4663440"/>
            <a:ext cx="4663440" cy="685800"/>
          </a:xfrm>
          <a:prstGeom prst="roundRect">
            <a:avLst>
              <a:gd name="adj" fmla="val 13333"/>
            </a:avLst>
          </a:prstGeom>
          <a:solidFill>
            <a:srgbClr val="FFFFFF"/>
          </a:solidFill>
          <a:ln w="12700">
            <a:solidFill>
              <a:srgbClr val="E3B4B9"/>
            </a:solidFill>
            <a:prstDash val="solid"/>
          </a:ln>
        </p:spPr>
      </p:sp>
      <p:sp>
        <p:nvSpPr>
          <p:cNvPr id="32" name="Shape 30"/>
          <p:cNvSpPr/>
          <p:nvPr/>
        </p:nvSpPr>
        <p:spPr>
          <a:xfrm>
            <a:off x="7086600" y="4777740"/>
            <a:ext cx="457200" cy="457200"/>
          </a:xfrm>
          <a:prstGeom prst="ellipse">
            <a:avLst/>
          </a:prstGeom>
          <a:solidFill>
            <a:srgbClr val="990011"/>
          </a:solidFill>
          <a:ln/>
        </p:spPr>
      </p:sp>
      <p:sp>
        <p:nvSpPr>
          <p:cNvPr id="33" name="Text 31"/>
          <p:cNvSpPr txBox="1"/>
          <p:nvPr/>
        </p:nvSpPr>
        <p:spPr>
          <a:xfrm>
            <a:off x="7086600" y="47777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4" name="Text 32"/>
          <p:cNvSpPr txBox="1"/>
          <p:nvPr/>
        </p:nvSpPr>
        <p:spPr>
          <a:xfrm>
            <a:off x="7726680" y="4663440"/>
            <a:ext cx="3657600" cy="6858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Test</a:t>
            </a:r>
            <a:endParaRPr lang="en-US" sz="1400" dirty="0"/>
          </a:p>
        </p:txBody>
      </p:sp>
      <p:sp>
        <p:nvSpPr>
          <p:cNvPr id="35" name="Text 33"/>
          <p:cNvSpPr txBox="1"/>
          <p:nvPr/>
        </p:nvSpPr>
        <p:spPr>
          <a:xfrm>
            <a:off x="7159752" y="5321808"/>
            <a:ext cx="365760" cy="256032"/>
          </a:xfrm>
          <a:prstGeom prst="rect">
            <a:avLst/>
          </a:prstGeom>
          <a:noFill/>
          <a:ln/>
        </p:spPr>
        <p:txBody>
          <a:bodyPr wrap="square" lIns="0" tIns="0" rIns="0" bIns="0" rtlCol="0" anchor="ctr"/>
          <a:lstStyle/>
          <a:p>
            <a:pPr algn="ctr" indent="0" marL="0">
              <a:buNone/>
            </a:pPr>
            <a:r>
              <a:rPr lang="en-US" sz="1400" dirty="0">
                <a:solidFill>
                  <a:srgbClr val="990011"/>
                </a:solidFill>
              </a:rPr>
              <a:t>↓</a:t>
            </a:r>
            <a:endParaRPr lang="en-US" sz="1400" dirty="0"/>
          </a:p>
        </p:txBody>
      </p:sp>
      <p:sp>
        <p:nvSpPr>
          <p:cNvPr id="36" name="Shape 34"/>
          <p:cNvSpPr/>
          <p:nvPr/>
        </p:nvSpPr>
        <p:spPr>
          <a:xfrm>
            <a:off x="6949440" y="5577840"/>
            <a:ext cx="4663440" cy="685800"/>
          </a:xfrm>
          <a:prstGeom prst="roundRect">
            <a:avLst>
              <a:gd name="adj" fmla="val 13333"/>
            </a:avLst>
          </a:prstGeom>
          <a:solidFill>
            <a:srgbClr val="FFFFFF"/>
          </a:solidFill>
          <a:ln w="12700">
            <a:solidFill>
              <a:srgbClr val="E3B4B9"/>
            </a:solidFill>
            <a:prstDash val="solid"/>
          </a:ln>
        </p:spPr>
      </p:sp>
      <p:sp>
        <p:nvSpPr>
          <p:cNvPr id="37" name="Shape 35"/>
          <p:cNvSpPr/>
          <p:nvPr/>
        </p:nvSpPr>
        <p:spPr>
          <a:xfrm>
            <a:off x="7086600" y="5692140"/>
            <a:ext cx="457200" cy="457200"/>
          </a:xfrm>
          <a:prstGeom prst="ellipse">
            <a:avLst/>
          </a:prstGeom>
          <a:solidFill>
            <a:srgbClr val="990011"/>
          </a:solidFill>
          <a:ln/>
        </p:spPr>
      </p:sp>
      <p:sp>
        <p:nvSpPr>
          <p:cNvPr id="38" name="Text 36"/>
          <p:cNvSpPr txBox="1"/>
          <p:nvPr/>
        </p:nvSpPr>
        <p:spPr>
          <a:xfrm>
            <a:off x="7086600" y="56921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9" name="Text 37"/>
          <p:cNvSpPr txBox="1"/>
          <p:nvPr/>
        </p:nvSpPr>
        <p:spPr>
          <a:xfrm>
            <a:off x="7726680" y="5577840"/>
            <a:ext cx="3657600" cy="6858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Document</a:t>
            </a:r>
            <a:endParaRPr lang="en-US" sz="1400" dirty="0"/>
          </a:p>
        </p:txBody>
      </p:sp>
      <p:sp>
        <p:nvSpPr>
          <p:cNvPr id="40" name="Text 38"/>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03 · PROJECT OBJECTIVES</a:t>
            </a:r>
            <a:endParaRPr lang="en-US" sz="12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What the Internship Set Out to Achieve</a:t>
            </a:r>
            <a:endParaRPr lang="en-US" sz="3200" dirty="0"/>
          </a:p>
        </p:txBody>
      </p:sp>
      <p:sp>
        <p:nvSpPr>
          <p:cNvPr id="4" name="Shape 2"/>
          <p:cNvSpPr/>
          <p:nvPr/>
        </p:nvSpPr>
        <p:spPr>
          <a:xfrm>
            <a:off x="548640" y="1737360"/>
            <a:ext cx="457200" cy="457200"/>
          </a:xfrm>
          <a:prstGeom prst="ellipse">
            <a:avLst/>
          </a:prstGeom>
          <a:solidFill>
            <a:srgbClr val="F2E1E3"/>
          </a:solidFill>
          <a:ln/>
        </p:spPr>
      </p:sp>
      <p:sp>
        <p:nvSpPr>
          <p:cNvPr id="5" name="Text 3"/>
          <p:cNvSpPr txBox="1"/>
          <p:nvPr/>
        </p:nvSpPr>
        <p:spPr>
          <a:xfrm>
            <a:off x="548640" y="1737360"/>
            <a:ext cx="457200" cy="457200"/>
          </a:xfrm>
          <a:prstGeom prst="rect">
            <a:avLst/>
          </a:prstGeom>
          <a:noFill/>
          <a:ln/>
        </p:spPr>
        <p:txBody>
          <a:bodyPr wrap="square" lIns="0" tIns="0" rIns="0" bIns="0" rtlCol="0" anchor="ctr"/>
          <a:lstStyle/>
          <a:p>
            <a:pPr algn="ctr" indent="0" marL="0">
              <a:buNone/>
            </a:pPr>
            <a:r>
              <a:rPr lang="en-US" sz="1400" b="1" dirty="0">
                <a:solidFill>
                  <a:srgbClr val="990011"/>
                </a:solidFill>
                <a:latin typeface="Calibri" pitchFamily="34" charset="0"/>
                <a:ea typeface="Calibri" pitchFamily="34" charset="-122"/>
                <a:cs typeface="Calibri" pitchFamily="34" charset="-120"/>
              </a:rPr>
              <a:t>✓</a:t>
            </a:r>
            <a:endParaRPr lang="en-US" sz="1400" dirty="0"/>
          </a:p>
        </p:txBody>
      </p:sp>
      <p:sp>
        <p:nvSpPr>
          <p:cNvPr id="6" name="Text 4"/>
          <p:cNvSpPr txBox="1"/>
          <p:nvPr/>
        </p:nvSpPr>
        <p:spPr>
          <a:xfrm>
            <a:off x="1170432" y="1664208"/>
            <a:ext cx="4754880" cy="32004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Understand the environment</a:t>
            </a:r>
            <a:endParaRPr lang="en-US" sz="1350" dirty="0"/>
          </a:p>
        </p:txBody>
      </p:sp>
      <p:sp>
        <p:nvSpPr>
          <p:cNvPr id="7" name="Text 5"/>
          <p:cNvSpPr txBox="1"/>
          <p:nvPr/>
        </p:nvSpPr>
        <p:spPr>
          <a:xfrm>
            <a:off x="1170432" y="1984248"/>
            <a:ext cx="4754880" cy="685800"/>
          </a:xfrm>
          <a:prstGeom prst="rect">
            <a:avLst/>
          </a:prstGeom>
          <a:noFill/>
          <a:ln/>
        </p:spPr>
        <p:txBody>
          <a:bodyPr wrap="square" lIns="0" tIns="0" rIns="0" bIns="0" rtlCol="0" anchor="ctr"/>
          <a:lstStyle/>
          <a:p>
            <a:pPr indent="0" marL="0">
              <a:lnSpc>
                <a:spcPct val="115000"/>
              </a:lnSpc>
              <a:buNone/>
            </a:pPr>
            <a:r>
              <a:rPr lang="en-US" sz="1100" dirty="0">
                <a:solidFill>
                  <a:srgbClr val="6B6B6B"/>
                </a:solidFill>
                <a:latin typeface="Calibri" pitchFamily="34" charset="0"/>
                <a:ea typeface="Calibri" pitchFamily="34" charset="-122"/>
                <a:cs typeface="Calibri" pitchFamily="34" charset="-120"/>
              </a:rPr>
              <a:t>Working environment and responsibilities of a junior technology intern</a:t>
            </a:r>
            <a:endParaRPr lang="en-US" sz="1100" dirty="0"/>
          </a:p>
        </p:txBody>
      </p:sp>
      <p:sp>
        <p:nvSpPr>
          <p:cNvPr id="8" name="Shape 6"/>
          <p:cNvSpPr/>
          <p:nvPr/>
        </p:nvSpPr>
        <p:spPr>
          <a:xfrm>
            <a:off x="6263640" y="1737360"/>
            <a:ext cx="457200" cy="457200"/>
          </a:xfrm>
          <a:prstGeom prst="ellipse">
            <a:avLst/>
          </a:prstGeom>
          <a:solidFill>
            <a:srgbClr val="F2E1E3"/>
          </a:solidFill>
          <a:ln/>
        </p:spPr>
      </p:sp>
      <p:sp>
        <p:nvSpPr>
          <p:cNvPr id="9" name="Text 7"/>
          <p:cNvSpPr txBox="1"/>
          <p:nvPr/>
        </p:nvSpPr>
        <p:spPr>
          <a:xfrm>
            <a:off x="6263640" y="1737360"/>
            <a:ext cx="457200" cy="457200"/>
          </a:xfrm>
          <a:prstGeom prst="rect">
            <a:avLst/>
          </a:prstGeom>
          <a:noFill/>
          <a:ln/>
        </p:spPr>
        <p:txBody>
          <a:bodyPr wrap="square" lIns="0" tIns="0" rIns="0" bIns="0" rtlCol="0" anchor="ctr"/>
          <a:lstStyle/>
          <a:p>
            <a:pPr algn="ctr" indent="0" marL="0">
              <a:buNone/>
            </a:pPr>
            <a:r>
              <a:rPr lang="en-US" sz="1400" b="1" dirty="0">
                <a:solidFill>
                  <a:srgbClr val="990011"/>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6885432" y="1664208"/>
            <a:ext cx="4754880" cy="32004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Apply CS fundamentals</a:t>
            </a:r>
            <a:endParaRPr lang="en-US" sz="1350" dirty="0"/>
          </a:p>
        </p:txBody>
      </p:sp>
      <p:sp>
        <p:nvSpPr>
          <p:cNvPr id="11" name="Text 9"/>
          <p:cNvSpPr txBox="1"/>
          <p:nvPr/>
        </p:nvSpPr>
        <p:spPr>
          <a:xfrm>
            <a:off x="6885432" y="1984248"/>
            <a:ext cx="4754880" cy="685800"/>
          </a:xfrm>
          <a:prstGeom prst="rect">
            <a:avLst/>
          </a:prstGeom>
          <a:noFill/>
          <a:ln/>
        </p:spPr>
        <p:txBody>
          <a:bodyPr wrap="square" lIns="0" tIns="0" rIns="0" bIns="0" rtlCol="0" anchor="ctr"/>
          <a:lstStyle/>
          <a:p>
            <a:pPr indent="0" marL="0">
              <a:lnSpc>
                <a:spcPct val="115000"/>
              </a:lnSpc>
              <a:buNone/>
            </a:pPr>
            <a:r>
              <a:rPr lang="en-US" sz="1100" dirty="0">
                <a:solidFill>
                  <a:srgbClr val="6B6B6B"/>
                </a:solidFill>
                <a:latin typeface="Calibri" pitchFamily="34" charset="0"/>
                <a:ea typeface="Calibri" pitchFamily="34" charset="-122"/>
                <a:cs typeface="Calibri" pitchFamily="34" charset="-120"/>
              </a:rPr>
              <a:t>Practical use of programming and computer-science concepts</a:t>
            </a:r>
            <a:endParaRPr lang="en-US" sz="1100" dirty="0"/>
          </a:p>
        </p:txBody>
      </p:sp>
      <p:sp>
        <p:nvSpPr>
          <p:cNvPr id="12" name="Shape 10"/>
          <p:cNvSpPr/>
          <p:nvPr/>
        </p:nvSpPr>
        <p:spPr>
          <a:xfrm>
            <a:off x="548640" y="2907792"/>
            <a:ext cx="457200" cy="457200"/>
          </a:xfrm>
          <a:prstGeom prst="ellipse">
            <a:avLst/>
          </a:prstGeom>
          <a:solidFill>
            <a:srgbClr val="F2E1E3"/>
          </a:solidFill>
          <a:ln/>
        </p:spPr>
      </p:sp>
      <p:sp>
        <p:nvSpPr>
          <p:cNvPr id="13" name="Text 11"/>
          <p:cNvSpPr txBox="1"/>
          <p:nvPr/>
        </p:nvSpPr>
        <p:spPr>
          <a:xfrm>
            <a:off x="548640" y="2907792"/>
            <a:ext cx="457200" cy="457200"/>
          </a:xfrm>
          <a:prstGeom prst="rect">
            <a:avLst/>
          </a:prstGeom>
          <a:noFill/>
          <a:ln/>
        </p:spPr>
        <p:txBody>
          <a:bodyPr wrap="square" lIns="0" tIns="0" rIns="0" bIns="0" rtlCol="0" anchor="ctr"/>
          <a:lstStyle/>
          <a:p>
            <a:pPr algn="ctr" indent="0" marL="0">
              <a:buNone/>
            </a:pPr>
            <a:r>
              <a:rPr lang="en-US" sz="1400" b="1" dirty="0">
                <a:solidFill>
                  <a:srgbClr val="990011"/>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1170432" y="2834640"/>
            <a:ext cx="4754880" cy="32004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Learn the tech lifecycle</a:t>
            </a:r>
            <a:endParaRPr lang="en-US" sz="1350" dirty="0"/>
          </a:p>
        </p:txBody>
      </p:sp>
      <p:sp>
        <p:nvSpPr>
          <p:cNvPr id="15" name="Text 13"/>
          <p:cNvSpPr txBox="1"/>
          <p:nvPr/>
        </p:nvSpPr>
        <p:spPr>
          <a:xfrm>
            <a:off x="1170432" y="3154680"/>
            <a:ext cx="4754880" cy="685800"/>
          </a:xfrm>
          <a:prstGeom prst="rect">
            <a:avLst/>
          </a:prstGeom>
          <a:noFill/>
          <a:ln/>
        </p:spPr>
        <p:txBody>
          <a:bodyPr wrap="square" lIns="0" tIns="0" rIns="0" bIns="0" rtlCol="0" anchor="ctr"/>
          <a:lstStyle/>
          <a:p>
            <a:pPr indent="0" marL="0">
              <a:lnSpc>
                <a:spcPct val="115000"/>
              </a:lnSpc>
              <a:buNone/>
            </a:pPr>
            <a:r>
              <a:rPr lang="en-US" sz="1100" dirty="0">
                <a:solidFill>
                  <a:srgbClr val="6B6B6B"/>
                </a:solidFill>
                <a:latin typeface="Calibri" pitchFamily="34" charset="0"/>
                <a:ea typeface="Calibri" pitchFamily="34" charset="-122"/>
                <a:cs typeface="Calibri" pitchFamily="34" charset="-120"/>
              </a:rPr>
              <a:t>Basic automobile operations &amp; technology life cycle, task-management workflow</a:t>
            </a:r>
            <a:endParaRPr lang="en-US" sz="1100" dirty="0"/>
          </a:p>
        </p:txBody>
      </p:sp>
      <p:sp>
        <p:nvSpPr>
          <p:cNvPr id="16" name="Shape 14"/>
          <p:cNvSpPr/>
          <p:nvPr/>
        </p:nvSpPr>
        <p:spPr>
          <a:xfrm>
            <a:off x="6263640" y="2907792"/>
            <a:ext cx="457200" cy="457200"/>
          </a:xfrm>
          <a:prstGeom prst="ellipse">
            <a:avLst/>
          </a:prstGeom>
          <a:solidFill>
            <a:srgbClr val="F2E1E3"/>
          </a:solidFill>
          <a:ln/>
        </p:spPr>
      </p:sp>
      <p:sp>
        <p:nvSpPr>
          <p:cNvPr id="17" name="Text 15"/>
          <p:cNvSpPr txBox="1"/>
          <p:nvPr/>
        </p:nvSpPr>
        <p:spPr>
          <a:xfrm>
            <a:off x="6263640" y="2907792"/>
            <a:ext cx="457200" cy="457200"/>
          </a:xfrm>
          <a:prstGeom prst="rect">
            <a:avLst/>
          </a:prstGeom>
          <a:noFill/>
          <a:ln/>
        </p:spPr>
        <p:txBody>
          <a:bodyPr wrap="square" lIns="0" tIns="0" rIns="0" bIns="0" rtlCol="0" anchor="ctr"/>
          <a:lstStyle/>
          <a:p>
            <a:pPr algn="ctr" indent="0" marL="0">
              <a:buNone/>
            </a:pPr>
            <a:r>
              <a:rPr lang="en-US" sz="1400" b="1" dirty="0">
                <a:solidFill>
                  <a:srgbClr val="990011"/>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6885432" y="2834640"/>
            <a:ext cx="4754880" cy="32004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Practise analysis</a:t>
            </a:r>
            <a:endParaRPr lang="en-US" sz="1350" dirty="0"/>
          </a:p>
        </p:txBody>
      </p:sp>
      <p:sp>
        <p:nvSpPr>
          <p:cNvPr id="19" name="Text 17"/>
          <p:cNvSpPr txBox="1"/>
          <p:nvPr/>
        </p:nvSpPr>
        <p:spPr>
          <a:xfrm>
            <a:off x="6885432" y="3154680"/>
            <a:ext cx="4754880" cy="685800"/>
          </a:xfrm>
          <a:prstGeom prst="rect">
            <a:avLst/>
          </a:prstGeom>
          <a:noFill/>
          <a:ln/>
        </p:spPr>
        <p:txBody>
          <a:bodyPr wrap="square" lIns="0" tIns="0" rIns="0" bIns="0" rtlCol="0" anchor="ctr"/>
          <a:lstStyle/>
          <a:p>
            <a:pPr indent="0" marL="0">
              <a:lnSpc>
                <a:spcPct val="115000"/>
              </a:lnSpc>
              <a:buNone/>
            </a:pPr>
            <a:r>
              <a:rPr lang="en-US" sz="1100" dirty="0">
                <a:solidFill>
                  <a:srgbClr val="6B6B6B"/>
                </a:solidFill>
                <a:latin typeface="Calibri" pitchFamily="34" charset="0"/>
                <a:ea typeface="Calibri" pitchFamily="34" charset="-122"/>
                <a:cs typeface="Calibri" pitchFamily="34" charset="-120"/>
              </a:rPr>
              <a:t>Requirement analysis, problem decomposition and solution planning</a:t>
            </a:r>
            <a:endParaRPr lang="en-US" sz="1100" dirty="0"/>
          </a:p>
        </p:txBody>
      </p:sp>
      <p:sp>
        <p:nvSpPr>
          <p:cNvPr id="20" name="Shape 18"/>
          <p:cNvSpPr/>
          <p:nvPr/>
        </p:nvSpPr>
        <p:spPr>
          <a:xfrm>
            <a:off x="548640" y="4078224"/>
            <a:ext cx="457200" cy="457200"/>
          </a:xfrm>
          <a:prstGeom prst="ellipse">
            <a:avLst/>
          </a:prstGeom>
          <a:solidFill>
            <a:srgbClr val="F2E1E3"/>
          </a:solidFill>
          <a:ln/>
        </p:spPr>
      </p:sp>
      <p:sp>
        <p:nvSpPr>
          <p:cNvPr id="21" name="Text 19"/>
          <p:cNvSpPr txBox="1"/>
          <p:nvPr/>
        </p:nvSpPr>
        <p:spPr>
          <a:xfrm>
            <a:off x="548640" y="4078224"/>
            <a:ext cx="457200" cy="457200"/>
          </a:xfrm>
          <a:prstGeom prst="rect">
            <a:avLst/>
          </a:prstGeom>
          <a:noFill/>
          <a:ln/>
        </p:spPr>
        <p:txBody>
          <a:bodyPr wrap="square" lIns="0" tIns="0" rIns="0" bIns="0" rtlCol="0" anchor="ctr"/>
          <a:lstStyle/>
          <a:p>
            <a:pPr algn="ctr" indent="0" marL="0">
              <a:buNone/>
            </a:pPr>
            <a:r>
              <a:rPr lang="en-US" sz="1400" b="1" dirty="0">
                <a:solidFill>
                  <a:srgbClr val="990011"/>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1170432" y="4005072"/>
            <a:ext cx="4754880" cy="32004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Build testing awareness</a:t>
            </a:r>
            <a:endParaRPr lang="en-US" sz="1350" dirty="0"/>
          </a:p>
        </p:txBody>
      </p:sp>
      <p:sp>
        <p:nvSpPr>
          <p:cNvPr id="23" name="Text 21"/>
          <p:cNvSpPr txBox="1"/>
          <p:nvPr/>
        </p:nvSpPr>
        <p:spPr>
          <a:xfrm>
            <a:off x="1170432" y="4325112"/>
            <a:ext cx="4754880" cy="685800"/>
          </a:xfrm>
          <a:prstGeom prst="rect">
            <a:avLst/>
          </a:prstGeom>
          <a:noFill/>
          <a:ln/>
        </p:spPr>
        <p:txBody>
          <a:bodyPr wrap="square" lIns="0" tIns="0" rIns="0" bIns="0" rtlCol="0" anchor="ctr"/>
          <a:lstStyle/>
          <a:p>
            <a:pPr indent="0" marL="0">
              <a:lnSpc>
                <a:spcPct val="115000"/>
              </a:lnSpc>
              <a:buNone/>
            </a:pPr>
            <a:r>
              <a:rPr lang="en-US" sz="1100" dirty="0">
                <a:solidFill>
                  <a:srgbClr val="6B6B6B"/>
                </a:solidFill>
                <a:latin typeface="Calibri" pitchFamily="34" charset="0"/>
                <a:ea typeface="Calibri" pitchFamily="34" charset="-122"/>
                <a:cs typeface="Calibri" pitchFamily="34" charset="-120"/>
              </a:rPr>
              <a:t>Testing, debugging and validation techniques</a:t>
            </a:r>
            <a:endParaRPr lang="en-US" sz="1100" dirty="0"/>
          </a:p>
        </p:txBody>
      </p:sp>
      <p:sp>
        <p:nvSpPr>
          <p:cNvPr id="24" name="Shape 22"/>
          <p:cNvSpPr/>
          <p:nvPr/>
        </p:nvSpPr>
        <p:spPr>
          <a:xfrm>
            <a:off x="6263640" y="4078224"/>
            <a:ext cx="457200" cy="457200"/>
          </a:xfrm>
          <a:prstGeom prst="ellipse">
            <a:avLst/>
          </a:prstGeom>
          <a:solidFill>
            <a:srgbClr val="F2E1E3"/>
          </a:solidFill>
          <a:ln/>
        </p:spPr>
      </p:sp>
      <p:sp>
        <p:nvSpPr>
          <p:cNvPr id="25" name="Text 23"/>
          <p:cNvSpPr txBox="1"/>
          <p:nvPr/>
        </p:nvSpPr>
        <p:spPr>
          <a:xfrm>
            <a:off x="6263640" y="4078224"/>
            <a:ext cx="457200" cy="457200"/>
          </a:xfrm>
          <a:prstGeom prst="rect">
            <a:avLst/>
          </a:prstGeom>
          <a:noFill/>
          <a:ln/>
        </p:spPr>
        <p:txBody>
          <a:bodyPr wrap="square" lIns="0" tIns="0" rIns="0" bIns="0" rtlCol="0" anchor="ctr"/>
          <a:lstStyle/>
          <a:p>
            <a:pPr algn="ctr" indent="0" marL="0">
              <a:buNone/>
            </a:pPr>
            <a:r>
              <a:rPr lang="en-US" sz="1400" b="1" dirty="0">
                <a:solidFill>
                  <a:srgbClr val="990011"/>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6885432" y="4005072"/>
            <a:ext cx="4754880" cy="32004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Value documentation</a:t>
            </a:r>
            <a:endParaRPr lang="en-US" sz="1350" dirty="0"/>
          </a:p>
        </p:txBody>
      </p:sp>
      <p:sp>
        <p:nvSpPr>
          <p:cNvPr id="27" name="Text 25"/>
          <p:cNvSpPr txBox="1"/>
          <p:nvPr/>
        </p:nvSpPr>
        <p:spPr>
          <a:xfrm>
            <a:off x="6885432" y="4325112"/>
            <a:ext cx="4754880" cy="685800"/>
          </a:xfrm>
          <a:prstGeom prst="rect">
            <a:avLst/>
          </a:prstGeom>
          <a:noFill/>
          <a:ln/>
        </p:spPr>
        <p:txBody>
          <a:bodyPr wrap="square" lIns="0" tIns="0" rIns="0" bIns="0" rtlCol="0" anchor="ctr"/>
          <a:lstStyle/>
          <a:p>
            <a:pPr indent="0" marL="0">
              <a:lnSpc>
                <a:spcPct val="115000"/>
              </a:lnSpc>
              <a:buNone/>
            </a:pPr>
            <a:r>
              <a:rPr lang="en-US" sz="1100" dirty="0">
                <a:solidFill>
                  <a:srgbClr val="6B6B6B"/>
                </a:solidFill>
                <a:latin typeface="Calibri" pitchFamily="34" charset="0"/>
                <a:ea typeface="Calibri" pitchFamily="34" charset="-122"/>
                <a:cs typeface="Calibri" pitchFamily="34" charset="-120"/>
              </a:rPr>
              <a:t>Role of documentation and professional communication</a:t>
            </a:r>
            <a:endParaRPr lang="en-US" sz="1100" dirty="0"/>
          </a:p>
        </p:txBody>
      </p:sp>
      <p:sp>
        <p:nvSpPr>
          <p:cNvPr id="28" name="Shape 26"/>
          <p:cNvSpPr/>
          <p:nvPr/>
        </p:nvSpPr>
        <p:spPr>
          <a:xfrm>
            <a:off x="548640" y="5248656"/>
            <a:ext cx="457200" cy="457200"/>
          </a:xfrm>
          <a:prstGeom prst="ellipse">
            <a:avLst/>
          </a:prstGeom>
          <a:solidFill>
            <a:srgbClr val="F2E1E3"/>
          </a:solidFill>
          <a:ln/>
        </p:spPr>
      </p:sp>
      <p:sp>
        <p:nvSpPr>
          <p:cNvPr id="29" name="Text 27"/>
          <p:cNvSpPr txBox="1"/>
          <p:nvPr/>
        </p:nvSpPr>
        <p:spPr>
          <a:xfrm>
            <a:off x="548640" y="5248656"/>
            <a:ext cx="457200" cy="457200"/>
          </a:xfrm>
          <a:prstGeom prst="rect">
            <a:avLst/>
          </a:prstGeom>
          <a:noFill/>
          <a:ln/>
        </p:spPr>
        <p:txBody>
          <a:bodyPr wrap="square" lIns="0" tIns="0" rIns="0" bIns="0" rtlCol="0" anchor="ctr"/>
          <a:lstStyle/>
          <a:p>
            <a:pPr algn="ctr" indent="0" marL="0">
              <a:buNone/>
            </a:pPr>
            <a:r>
              <a:rPr lang="en-US" sz="1400" b="1" dirty="0">
                <a:solidFill>
                  <a:srgbClr val="990011"/>
                </a:solidFill>
                <a:latin typeface="Calibri" pitchFamily="34" charset="0"/>
                <a:ea typeface="Calibri" pitchFamily="34" charset="-122"/>
                <a:cs typeface="Calibri" pitchFamily="34" charset="-120"/>
              </a:rPr>
              <a:t>✓</a:t>
            </a:r>
            <a:endParaRPr lang="en-US" sz="1400" dirty="0"/>
          </a:p>
        </p:txBody>
      </p:sp>
      <p:sp>
        <p:nvSpPr>
          <p:cNvPr id="30" name="Text 28"/>
          <p:cNvSpPr txBox="1"/>
          <p:nvPr/>
        </p:nvSpPr>
        <p:spPr>
          <a:xfrm>
            <a:off x="1170432" y="5175504"/>
            <a:ext cx="4754880" cy="32004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Use collaboration tools</a:t>
            </a:r>
            <a:endParaRPr lang="en-US" sz="1350" dirty="0"/>
          </a:p>
        </p:txBody>
      </p:sp>
      <p:sp>
        <p:nvSpPr>
          <p:cNvPr id="31" name="Text 29"/>
          <p:cNvSpPr txBox="1"/>
          <p:nvPr/>
        </p:nvSpPr>
        <p:spPr>
          <a:xfrm>
            <a:off x="1170432" y="5495544"/>
            <a:ext cx="4754880" cy="685800"/>
          </a:xfrm>
          <a:prstGeom prst="rect">
            <a:avLst/>
          </a:prstGeom>
          <a:noFill/>
          <a:ln/>
        </p:spPr>
        <p:txBody>
          <a:bodyPr wrap="square" lIns="0" tIns="0" rIns="0" bIns="0" rtlCol="0" anchor="ctr"/>
          <a:lstStyle/>
          <a:p>
            <a:pPr indent="0" marL="0">
              <a:lnSpc>
                <a:spcPct val="115000"/>
              </a:lnSpc>
              <a:buNone/>
            </a:pPr>
            <a:r>
              <a:rPr lang="en-US" sz="1100" dirty="0">
                <a:solidFill>
                  <a:srgbClr val="6B6B6B"/>
                </a:solidFill>
                <a:latin typeface="Calibri" pitchFamily="34" charset="0"/>
                <a:ea typeface="Calibri" pitchFamily="34" charset="-122"/>
                <a:cs typeface="Calibri" pitchFamily="34" charset="-120"/>
              </a:rPr>
              <a:t>Familiarity with commonly used development &amp; collaboration tools</a:t>
            </a:r>
            <a:endParaRPr lang="en-US" sz="1100" dirty="0"/>
          </a:p>
        </p:txBody>
      </p:sp>
      <p:sp>
        <p:nvSpPr>
          <p:cNvPr id="32" name="Shape 30"/>
          <p:cNvSpPr/>
          <p:nvPr/>
        </p:nvSpPr>
        <p:spPr>
          <a:xfrm>
            <a:off x="6263640" y="5248656"/>
            <a:ext cx="457200" cy="457200"/>
          </a:xfrm>
          <a:prstGeom prst="ellipse">
            <a:avLst/>
          </a:prstGeom>
          <a:solidFill>
            <a:srgbClr val="F2E1E3"/>
          </a:solidFill>
          <a:ln/>
        </p:spPr>
      </p:sp>
      <p:sp>
        <p:nvSpPr>
          <p:cNvPr id="33" name="Text 31"/>
          <p:cNvSpPr txBox="1"/>
          <p:nvPr/>
        </p:nvSpPr>
        <p:spPr>
          <a:xfrm>
            <a:off x="6263640" y="5248656"/>
            <a:ext cx="457200" cy="457200"/>
          </a:xfrm>
          <a:prstGeom prst="rect">
            <a:avLst/>
          </a:prstGeom>
          <a:noFill/>
          <a:ln/>
        </p:spPr>
        <p:txBody>
          <a:bodyPr wrap="square" lIns="0" tIns="0" rIns="0" bIns="0" rtlCol="0" anchor="ctr"/>
          <a:lstStyle/>
          <a:p>
            <a:pPr algn="ctr" indent="0" marL="0">
              <a:buNone/>
            </a:pPr>
            <a:r>
              <a:rPr lang="en-US" sz="1400" b="1" dirty="0">
                <a:solidFill>
                  <a:srgbClr val="99001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85432" y="5175504"/>
            <a:ext cx="4754880" cy="32004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Grow professionally</a:t>
            </a:r>
            <a:endParaRPr lang="en-US" sz="1350" dirty="0"/>
          </a:p>
        </p:txBody>
      </p:sp>
      <p:sp>
        <p:nvSpPr>
          <p:cNvPr id="35" name="Text 33"/>
          <p:cNvSpPr txBox="1"/>
          <p:nvPr/>
        </p:nvSpPr>
        <p:spPr>
          <a:xfrm>
            <a:off x="6885432" y="5495544"/>
            <a:ext cx="4754880" cy="685800"/>
          </a:xfrm>
          <a:prstGeom prst="rect">
            <a:avLst/>
          </a:prstGeom>
          <a:noFill/>
          <a:ln/>
        </p:spPr>
        <p:txBody>
          <a:bodyPr wrap="square" lIns="0" tIns="0" rIns="0" bIns="0" rtlCol="0" anchor="ctr"/>
          <a:lstStyle/>
          <a:p>
            <a:pPr indent="0" marL="0">
              <a:lnSpc>
                <a:spcPct val="115000"/>
              </a:lnSpc>
              <a:buNone/>
            </a:pPr>
            <a:r>
              <a:rPr lang="en-US" sz="1100" dirty="0">
                <a:solidFill>
                  <a:srgbClr val="6B6B6B"/>
                </a:solidFill>
                <a:latin typeface="Calibri" pitchFamily="34" charset="0"/>
                <a:ea typeface="Calibri" pitchFamily="34" charset="-122"/>
                <a:cs typeface="Calibri" pitchFamily="34" charset="-120"/>
              </a:rPr>
              <a:t>Teamwork, time management, communication and discipline</a:t>
            </a:r>
            <a:endParaRPr lang="en-US" sz="1100" dirty="0"/>
          </a:p>
        </p:txBody>
      </p:sp>
      <p:sp>
        <p:nvSpPr>
          <p:cNvPr id="36" name="Text 34"/>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04 · SCOPE OF THE PROJECT</a:t>
            </a:r>
            <a:endParaRPr lang="en-US" sz="12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Where the Boundary Was Drawn</a:t>
            </a:r>
            <a:endParaRPr lang="en-US" sz="3200" dirty="0"/>
          </a:p>
        </p:txBody>
      </p:sp>
      <p:sp>
        <p:nvSpPr>
          <p:cNvPr id="4" name="Shape 2"/>
          <p:cNvSpPr/>
          <p:nvPr/>
        </p:nvSpPr>
        <p:spPr>
          <a:xfrm>
            <a:off x="548640" y="1737360"/>
            <a:ext cx="5394960" cy="4297680"/>
          </a:xfrm>
          <a:prstGeom prst="roundRect">
            <a:avLst>
              <a:gd name="adj" fmla="val 1702"/>
            </a:avLst>
          </a:prstGeom>
          <a:solidFill>
            <a:srgbClr val="FFFFFF"/>
          </a:solidFill>
          <a:ln/>
        </p:spPr>
      </p:sp>
      <p:sp>
        <p:nvSpPr>
          <p:cNvPr id="5" name="Shape 3"/>
          <p:cNvSpPr/>
          <p:nvPr/>
        </p:nvSpPr>
        <p:spPr>
          <a:xfrm>
            <a:off x="548640" y="1737360"/>
            <a:ext cx="5394960" cy="594360"/>
          </a:xfrm>
          <a:prstGeom prst="rect">
            <a:avLst/>
          </a:prstGeom>
          <a:solidFill>
            <a:srgbClr val="2F3C7E"/>
          </a:solidFill>
          <a:ln/>
        </p:spPr>
      </p:sp>
      <p:sp>
        <p:nvSpPr>
          <p:cNvPr id="6" name="Text 4"/>
          <p:cNvSpPr txBox="1"/>
          <p:nvPr/>
        </p:nvSpPr>
        <p:spPr>
          <a:xfrm>
            <a:off x="822960" y="1737360"/>
            <a:ext cx="4572000" cy="5943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In Scope</a:t>
            </a:r>
            <a:endParaRPr lang="en-US" sz="1700" dirty="0"/>
          </a:p>
        </p:txBody>
      </p:sp>
      <p:sp>
        <p:nvSpPr>
          <p:cNvPr id="7" name="Text 5"/>
          <p:cNvSpPr txBox="1"/>
          <p:nvPr/>
        </p:nvSpPr>
        <p:spPr>
          <a:xfrm>
            <a:off x="868680" y="2514600"/>
            <a:ext cx="4846320" cy="338328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Understanding requirements and analysing simple technical issues</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Preparing / modifying code or configuration where applicable</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Testing solutions and documenting observations</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Version control, debugging, test execution and issue tracking</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Communicating progress under senior guidance</a:t>
            </a:r>
            <a:endParaRPr lang="en-US" sz="1250" dirty="0"/>
          </a:p>
        </p:txBody>
      </p:sp>
      <p:sp>
        <p:nvSpPr>
          <p:cNvPr id="8" name="Shape 6"/>
          <p:cNvSpPr/>
          <p:nvPr/>
        </p:nvSpPr>
        <p:spPr>
          <a:xfrm>
            <a:off x="6245352" y="1737360"/>
            <a:ext cx="5394960" cy="4297680"/>
          </a:xfrm>
          <a:prstGeom prst="roundRect">
            <a:avLst>
              <a:gd name="adj" fmla="val 1702"/>
            </a:avLst>
          </a:prstGeom>
          <a:solidFill>
            <a:srgbClr val="FFFFFF"/>
          </a:solidFill>
          <a:ln/>
        </p:spPr>
      </p:sp>
      <p:sp>
        <p:nvSpPr>
          <p:cNvPr id="9" name="Shape 7"/>
          <p:cNvSpPr/>
          <p:nvPr/>
        </p:nvSpPr>
        <p:spPr>
          <a:xfrm>
            <a:off x="6245352" y="1737360"/>
            <a:ext cx="5394960" cy="594360"/>
          </a:xfrm>
          <a:prstGeom prst="rect">
            <a:avLst/>
          </a:prstGeom>
          <a:solidFill>
            <a:srgbClr val="990011"/>
          </a:solidFill>
          <a:ln/>
        </p:spPr>
      </p:sp>
      <p:sp>
        <p:nvSpPr>
          <p:cNvPr id="10" name="Text 8"/>
          <p:cNvSpPr txBox="1"/>
          <p:nvPr/>
        </p:nvSpPr>
        <p:spPr>
          <a:xfrm>
            <a:off x="6519672" y="1737360"/>
            <a:ext cx="4572000" cy="5943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Out of Scope</a:t>
            </a:r>
            <a:endParaRPr lang="en-US" sz="1700" dirty="0"/>
          </a:p>
        </p:txBody>
      </p:sp>
      <p:sp>
        <p:nvSpPr>
          <p:cNvPr id="11" name="Text 9"/>
          <p:cNvSpPr txBox="1"/>
          <p:nvPr/>
        </p:nvSpPr>
        <p:spPr>
          <a:xfrm>
            <a:off x="6565392" y="2514600"/>
            <a:ext cx="4846320" cy="338328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Confidential client data and production credentials</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Proprietary architecture details and restricted source code</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Security-sensitive information</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Any activity requiring unauthorised access</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Independent responsibility for production systems</a:t>
            </a:r>
            <a:endParaRPr lang="en-US" sz="1250" dirty="0"/>
          </a:p>
        </p:txBody>
      </p:sp>
      <p:sp>
        <p:nvSpPr>
          <p:cNvPr id="12" name="Text 10"/>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04 · TECHNOLOGIES &amp; TOOLS</a:t>
            </a:r>
            <a:endParaRPr lang="en-US" sz="12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The Toolkit Behind the Work</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3931920"/>
        </p:xfrm>
        <a:graphic>
          <a:graphicData uri="http://schemas.openxmlformats.org/drawingml/2006/table">
            <a:tbl>
              <a:tblPr/>
              <a:tblGrid>
                <a:gridCol w="3566160"/>
                <a:gridCol w="3840480"/>
                <a:gridCol w="3657600"/>
              </a:tblGrid>
              <a:tr h="56235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Technology / Tool</a:t>
                      </a:r>
                      <a:endParaRPr lang="en-US" sz="12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990011"/>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Purpose</a:t>
                      </a:r>
                      <a:endParaRPr lang="en-US" sz="12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990011"/>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Learning Outcome</a:t>
                      </a:r>
                      <a:endParaRPr lang="en-US" sz="12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990011"/>
                    </a:solidFill>
                  </a:tcPr>
                </a:tc>
              </a:tr>
              <a:tr h="562356">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 / C++ / Java fundamentals</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CF6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Programming and logic development</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CF6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Improved problem solving and code structure</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CF6F5"/>
                    </a:solidFill>
                  </a:tcPr>
                </a:tc>
              </a:tr>
              <a:tr h="562356">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HTML, CSS and JavaScript</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Understanding basic web interfaces</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Awareness of frontend development workflow</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FFFFF"/>
                    </a:solidFill>
                  </a:tcPr>
                </a:tc>
              </a:tr>
              <a:tr h="562356">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Git / Version Control</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CF6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Tracking and managing code changes</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CF6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Understanding collaborative development</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CF6F5"/>
                    </a:solidFill>
                  </a:tcPr>
                </a:tc>
              </a:tr>
              <a:tr h="562356">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IDE / Code Editor</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Writing, running and debugging code</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Efficient development workflow</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FFFFF"/>
                    </a:solidFill>
                  </a:tcPr>
                </a:tc>
              </a:tr>
              <a:tr h="562356">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Issue / Task Tracking</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CF6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Recording tasks, bugs and progress</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CF6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Professional task management</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CF6F5"/>
                    </a:solidFill>
                  </a:tcPr>
                </a:tc>
              </a:tr>
              <a:tr h="562356">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Testing Tools / Techniques</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Checking correctness and identifying defects</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Validation and debugging skills</a:t>
                      </a:r>
                      <a:endParaRPr lang="en-US" sz="1150" dirty="0">
                        <a:latin typeface="Calibri" charset="0"/>
                        <a:ea typeface="Calibri" charset="0"/>
                        <a:cs typeface="Calibri" charset="0"/>
                      </a:endParaRPr>
                    </a:p>
                  </a:txBody>
                  <a:tcPr marL="91440" marR="91440" marT="45720" marB="45720" anchor="ctr">
                    <a:lnL w="9525" cap="flat" cmpd="sng" algn="ctr">
                      <a:solidFill>
                        <a:srgbClr val="EAD8DA"/>
                      </a:solidFill>
                      <a:prstDash val="solid"/>
                      <a:round/>
                      <a:headEnd type="none" w="med" len="med"/>
                      <a:tailEnd type="none" w="med" len="med"/>
                    </a:lnL>
                    <a:lnR w="9525" cap="flat" cmpd="sng" algn="ctr">
                      <a:solidFill>
                        <a:srgbClr val="EAD8DA"/>
                      </a:solidFill>
                      <a:prstDash val="solid"/>
                      <a:round/>
                      <a:headEnd type="none" w="med" len="med"/>
                      <a:tailEnd type="none" w="med" len="med"/>
                    </a:lnR>
                    <a:lnT w="9525" cap="flat" cmpd="sng" algn="ctr">
                      <a:solidFill>
                        <a:srgbClr val="EAD8DA"/>
                      </a:solidFill>
                      <a:prstDash val="solid"/>
                      <a:round/>
                      <a:headEnd type="none" w="med" len="med"/>
                      <a:tailEnd type="none" w="med" len="med"/>
                    </a:lnT>
                    <a:lnB w="9525" cap="flat" cmpd="sng" algn="ctr">
                      <a:solidFill>
                        <a:srgbClr val="EAD8D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990011"/>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F2C6CC"/>
                </a:solidFill>
                <a:latin typeface="Calibri" pitchFamily="34" charset="0"/>
                <a:ea typeface="Calibri" pitchFamily="34" charset="-122"/>
                <a:cs typeface="Calibri" pitchFamily="34" charset="-120"/>
              </a:rPr>
              <a:t>04 · SYSTEM ARCHITECTURE</a:t>
            </a:r>
            <a:endParaRPr lang="en-US" sz="12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Simple Layered Workflow</a:t>
            </a:r>
            <a:endParaRPr lang="en-US" sz="3200" dirty="0"/>
          </a:p>
        </p:txBody>
      </p:sp>
      <p:sp>
        <p:nvSpPr>
          <p:cNvPr id="4" name="Text 2"/>
          <p:cNvSpPr txBox="1"/>
          <p:nvPr/>
        </p:nvSpPr>
        <p:spPr>
          <a:xfrm>
            <a:off x="548640" y="1417320"/>
            <a:ext cx="10058400" cy="457200"/>
          </a:xfrm>
          <a:prstGeom prst="rect">
            <a:avLst/>
          </a:prstGeom>
          <a:noFill/>
          <a:ln/>
        </p:spPr>
        <p:txBody>
          <a:bodyPr wrap="square" lIns="0" tIns="0" rIns="0" bIns="0" rtlCol="0" anchor="ctr"/>
          <a:lstStyle/>
          <a:p>
            <a:pPr indent="0" marL="0">
              <a:buNone/>
            </a:pPr>
            <a:r>
              <a:rPr lang="en-US" sz="1300" i="1" dirty="0">
                <a:solidFill>
                  <a:srgbClr val="F2C6CC"/>
                </a:solidFill>
                <a:latin typeface="Calibri" pitchFamily="34" charset="0"/>
                <a:ea typeface="Calibri" pitchFamily="34" charset="-122"/>
                <a:cs typeface="Calibri" pitchFamily="34" charset="-120"/>
              </a:rPr>
              <a:t>The internship workflow moves through five layers — from an incoming task to a documented, reviewed outcome.</a:t>
            </a:r>
            <a:endParaRPr lang="en-US" sz="1300" dirty="0"/>
          </a:p>
        </p:txBody>
      </p:sp>
      <p:sp>
        <p:nvSpPr>
          <p:cNvPr id="5" name="Shape 3"/>
          <p:cNvSpPr/>
          <p:nvPr/>
        </p:nvSpPr>
        <p:spPr>
          <a:xfrm>
            <a:off x="484632" y="2286000"/>
            <a:ext cx="1298448" cy="1051560"/>
          </a:xfrm>
          <a:prstGeom prst="roundRect">
            <a:avLst>
              <a:gd name="adj" fmla="val 6087"/>
            </a:avLst>
          </a:prstGeom>
          <a:solidFill>
            <a:srgbClr val="FFFFFF"/>
          </a:solidFill>
          <a:ln/>
        </p:spPr>
      </p:sp>
      <p:sp>
        <p:nvSpPr>
          <p:cNvPr id="6" name="Text 4"/>
          <p:cNvSpPr txBox="1"/>
          <p:nvPr/>
        </p:nvSpPr>
        <p:spPr>
          <a:xfrm>
            <a:off x="512064" y="2331720"/>
            <a:ext cx="1243584"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990011"/>
                </a:solidFill>
                <a:latin typeface="Calibri" pitchFamily="34" charset="0"/>
                <a:ea typeface="Calibri" pitchFamily="34" charset="-122"/>
                <a:cs typeface="Calibri" pitchFamily="34" charset="-120"/>
              </a:rPr>
              <a:t>Requirement / Issue</a:t>
            </a:r>
            <a:endParaRPr lang="en-US" sz="1050" dirty="0"/>
          </a:p>
        </p:txBody>
      </p:sp>
      <p:sp>
        <p:nvSpPr>
          <p:cNvPr id="7" name="Text 5"/>
          <p:cNvSpPr txBox="1"/>
          <p:nvPr/>
        </p:nvSpPr>
        <p:spPr>
          <a:xfrm>
            <a:off x="1783080" y="2286000"/>
            <a:ext cx="137160"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1901952" y="2286000"/>
            <a:ext cx="1298448" cy="1051560"/>
          </a:xfrm>
          <a:prstGeom prst="roundRect">
            <a:avLst>
              <a:gd name="adj" fmla="val 6087"/>
            </a:avLst>
          </a:prstGeom>
          <a:solidFill>
            <a:srgbClr val="FFFFFF"/>
          </a:solidFill>
          <a:ln/>
        </p:spPr>
      </p:sp>
      <p:sp>
        <p:nvSpPr>
          <p:cNvPr id="9" name="Text 7"/>
          <p:cNvSpPr txBox="1"/>
          <p:nvPr/>
        </p:nvSpPr>
        <p:spPr>
          <a:xfrm>
            <a:off x="1929384" y="2331720"/>
            <a:ext cx="1243584"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990011"/>
                </a:solidFill>
                <a:latin typeface="Calibri" pitchFamily="34" charset="0"/>
                <a:ea typeface="Calibri" pitchFamily="34" charset="-122"/>
                <a:cs typeface="Calibri" pitchFamily="34" charset="-120"/>
              </a:rPr>
              <a:t>Analysis</a:t>
            </a:r>
            <a:endParaRPr lang="en-US" sz="1050" dirty="0"/>
          </a:p>
        </p:txBody>
      </p:sp>
      <p:sp>
        <p:nvSpPr>
          <p:cNvPr id="10" name="Text 8"/>
          <p:cNvSpPr txBox="1"/>
          <p:nvPr/>
        </p:nvSpPr>
        <p:spPr>
          <a:xfrm>
            <a:off x="3200400" y="2286000"/>
            <a:ext cx="137160"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3319272" y="2286000"/>
            <a:ext cx="1298448" cy="1051560"/>
          </a:xfrm>
          <a:prstGeom prst="roundRect">
            <a:avLst>
              <a:gd name="adj" fmla="val 6087"/>
            </a:avLst>
          </a:prstGeom>
          <a:solidFill>
            <a:srgbClr val="FFFFFF"/>
          </a:solidFill>
          <a:ln/>
        </p:spPr>
      </p:sp>
      <p:sp>
        <p:nvSpPr>
          <p:cNvPr id="12" name="Text 10"/>
          <p:cNvSpPr txBox="1"/>
          <p:nvPr/>
        </p:nvSpPr>
        <p:spPr>
          <a:xfrm>
            <a:off x="3346704" y="2331720"/>
            <a:ext cx="1243584"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990011"/>
                </a:solidFill>
                <a:latin typeface="Calibri" pitchFamily="34" charset="0"/>
                <a:ea typeface="Calibri" pitchFamily="34" charset="-122"/>
                <a:cs typeface="Calibri" pitchFamily="34" charset="-120"/>
              </a:rPr>
              <a:t>Development /</a:t>
            </a:r>
            <a:endParaRPr lang="en-US" sz="1050" dirty="0"/>
          </a:p>
          <a:p>
            <a:pPr algn="ctr" indent="0" marL="0">
              <a:lnSpc>
                <a:spcPct val="105000"/>
              </a:lnSpc>
              <a:buNone/>
            </a:pPr>
            <a:r>
              <a:rPr lang="en-US" sz="1050" b="1" dirty="0">
                <a:solidFill>
                  <a:srgbClr val="990011"/>
                </a:solidFill>
                <a:latin typeface="Calibri" pitchFamily="34" charset="0"/>
                <a:ea typeface="Calibri" pitchFamily="34" charset="-122"/>
                <a:cs typeface="Calibri" pitchFamily="34" charset="-120"/>
              </a:rPr>
              <a:t>Configuration</a:t>
            </a:r>
            <a:endParaRPr lang="en-US" sz="1050" dirty="0"/>
          </a:p>
        </p:txBody>
      </p:sp>
      <p:sp>
        <p:nvSpPr>
          <p:cNvPr id="13" name="Text 11"/>
          <p:cNvSpPr txBox="1"/>
          <p:nvPr/>
        </p:nvSpPr>
        <p:spPr>
          <a:xfrm>
            <a:off x="4617720" y="2286000"/>
            <a:ext cx="137160"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4736592" y="2286000"/>
            <a:ext cx="1298448" cy="1051560"/>
          </a:xfrm>
          <a:prstGeom prst="roundRect">
            <a:avLst>
              <a:gd name="adj" fmla="val 6087"/>
            </a:avLst>
          </a:prstGeom>
          <a:solidFill>
            <a:srgbClr val="FFFFFF"/>
          </a:solidFill>
          <a:ln/>
        </p:spPr>
      </p:sp>
      <p:sp>
        <p:nvSpPr>
          <p:cNvPr id="15" name="Text 13"/>
          <p:cNvSpPr txBox="1"/>
          <p:nvPr/>
        </p:nvSpPr>
        <p:spPr>
          <a:xfrm>
            <a:off x="4764024" y="2331720"/>
            <a:ext cx="1243584"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990011"/>
                </a:solidFill>
                <a:latin typeface="Calibri" pitchFamily="34" charset="0"/>
                <a:ea typeface="Calibri" pitchFamily="34" charset="-122"/>
                <a:cs typeface="Calibri" pitchFamily="34" charset="-120"/>
              </a:rPr>
              <a:t>Data</a:t>
            </a:r>
            <a:endParaRPr lang="en-US" sz="1050" dirty="0"/>
          </a:p>
          <a:p>
            <a:pPr algn="ctr" indent="0" marL="0">
              <a:lnSpc>
                <a:spcPct val="105000"/>
              </a:lnSpc>
              <a:buNone/>
            </a:pPr>
            <a:r>
              <a:rPr lang="en-US" sz="1050" b="1" dirty="0">
                <a:solidFill>
                  <a:srgbClr val="990011"/>
                </a:solidFill>
                <a:latin typeface="Calibri" pitchFamily="34" charset="0"/>
                <a:ea typeface="Calibri" pitchFamily="34" charset="-122"/>
                <a:cs typeface="Calibri" pitchFamily="34" charset="-120"/>
              </a:rPr>
              <a:t>Interaction</a:t>
            </a:r>
            <a:endParaRPr lang="en-US" sz="1050" dirty="0"/>
          </a:p>
        </p:txBody>
      </p:sp>
      <p:sp>
        <p:nvSpPr>
          <p:cNvPr id="16" name="Text 14"/>
          <p:cNvSpPr txBox="1"/>
          <p:nvPr/>
        </p:nvSpPr>
        <p:spPr>
          <a:xfrm>
            <a:off x="6035040" y="2286000"/>
            <a:ext cx="137160"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6153912" y="2286000"/>
            <a:ext cx="1298448" cy="1051560"/>
          </a:xfrm>
          <a:prstGeom prst="roundRect">
            <a:avLst>
              <a:gd name="adj" fmla="val 6087"/>
            </a:avLst>
          </a:prstGeom>
          <a:solidFill>
            <a:srgbClr val="FFFFFF"/>
          </a:solidFill>
          <a:ln/>
        </p:spPr>
      </p:sp>
      <p:sp>
        <p:nvSpPr>
          <p:cNvPr id="18" name="Text 16"/>
          <p:cNvSpPr txBox="1"/>
          <p:nvPr/>
        </p:nvSpPr>
        <p:spPr>
          <a:xfrm>
            <a:off x="6181344" y="2331720"/>
            <a:ext cx="1243584"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990011"/>
                </a:solidFill>
                <a:latin typeface="Calibri" pitchFamily="34" charset="0"/>
                <a:ea typeface="Calibri" pitchFamily="34" charset="-122"/>
                <a:cs typeface="Calibri" pitchFamily="34" charset="-120"/>
              </a:rPr>
              <a:t>Testing</a:t>
            </a:r>
            <a:endParaRPr lang="en-US" sz="1050" dirty="0"/>
          </a:p>
        </p:txBody>
      </p:sp>
      <p:sp>
        <p:nvSpPr>
          <p:cNvPr id="19" name="Text 17"/>
          <p:cNvSpPr txBox="1"/>
          <p:nvPr/>
        </p:nvSpPr>
        <p:spPr>
          <a:xfrm>
            <a:off x="7452360" y="2286000"/>
            <a:ext cx="137160"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7571232" y="2286000"/>
            <a:ext cx="1298448" cy="1051560"/>
          </a:xfrm>
          <a:prstGeom prst="roundRect">
            <a:avLst>
              <a:gd name="adj" fmla="val 6087"/>
            </a:avLst>
          </a:prstGeom>
          <a:solidFill>
            <a:srgbClr val="FFFFFF"/>
          </a:solidFill>
          <a:ln/>
        </p:spPr>
      </p:sp>
      <p:sp>
        <p:nvSpPr>
          <p:cNvPr id="21" name="Text 19"/>
          <p:cNvSpPr txBox="1"/>
          <p:nvPr/>
        </p:nvSpPr>
        <p:spPr>
          <a:xfrm>
            <a:off x="7598664" y="2331720"/>
            <a:ext cx="1243584"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990011"/>
                </a:solidFill>
                <a:latin typeface="Calibri" pitchFamily="34" charset="0"/>
                <a:ea typeface="Calibri" pitchFamily="34" charset="-122"/>
                <a:cs typeface="Calibri" pitchFamily="34" charset="-120"/>
              </a:rPr>
              <a:t>Debugging</a:t>
            </a:r>
            <a:endParaRPr lang="en-US" sz="1050" dirty="0"/>
          </a:p>
        </p:txBody>
      </p:sp>
      <p:sp>
        <p:nvSpPr>
          <p:cNvPr id="22" name="Text 20"/>
          <p:cNvSpPr txBox="1"/>
          <p:nvPr/>
        </p:nvSpPr>
        <p:spPr>
          <a:xfrm>
            <a:off x="8869680" y="2286000"/>
            <a:ext cx="137160"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8988552" y="2286000"/>
            <a:ext cx="1298448" cy="1051560"/>
          </a:xfrm>
          <a:prstGeom prst="roundRect">
            <a:avLst>
              <a:gd name="adj" fmla="val 6087"/>
            </a:avLst>
          </a:prstGeom>
          <a:solidFill>
            <a:srgbClr val="FFFFFF"/>
          </a:solidFill>
          <a:ln/>
        </p:spPr>
      </p:sp>
      <p:sp>
        <p:nvSpPr>
          <p:cNvPr id="24" name="Text 22"/>
          <p:cNvSpPr txBox="1"/>
          <p:nvPr/>
        </p:nvSpPr>
        <p:spPr>
          <a:xfrm>
            <a:off x="9015984" y="2331720"/>
            <a:ext cx="1243584"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990011"/>
                </a:solidFill>
                <a:latin typeface="Calibri" pitchFamily="34" charset="0"/>
                <a:ea typeface="Calibri" pitchFamily="34" charset="-122"/>
                <a:cs typeface="Calibri" pitchFamily="34" charset="-120"/>
              </a:rPr>
              <a:t>Documentation</a:t>
            </a:r>
            <a:endParaRPr lang="en-US" sz="1050" dirty="0"/>
          </a:p>
        </p:txBody>
      </p:sp>
      <p:sp>
        <p:nvSpPr>
          <p:cNvPr id="25" name="Text 23"/>
          <p:cNvSpPr txBox="1"/>
          <p:nvPr/>
        </p:nvSpPr>
        <p:spPr>
          <a:xfrm>
            <a:off x="10287000" y="2286000"/>
            <a:ext cx="137160"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10405872" y="2286000"/>
            <a:ext cx="1298448" cy="1051560"/>
          </a:xfrm>
          <a:prstGeom prst="roundRect">
            <a:avLst>
              <a:gd name="adj" fmla="val 6087"/>
            </a:avLst>
          </a:prstGeom>
          <a:solidFill>
            <a:srgbClr val="FFFFFF"/>
          </a:solidFill>
          <a:ln/>
        </p:spPr>
      </p:sp>
      <p:sp>
        <p:nvSpPr>
          <p:cNvPr id="27" name="Text 25"/>
          <p:cNvSpPr txBox="1"/>
          <p:nvPr/>
        </p:nvSpPr>
        <p:spPr>
          <a:xfrm>
            <a:off x="10433304" y="2331720"/>
            <a:ext cx="1243584" cy="960120"/>
          </a:xfrm>
          <a:prstGeom prst="rect">
            <a:avLst/>
          </a:prstGeom>
          <a:noFill/>
          <a:ln/>
        </p:spPr>
        <p:txBody>
          <a:bodyPr wrap="square" lIns="0" tIns="0" rIns="0" bIns="0" rtlCol="0" anchor="ctr"/>
          <a:lstStyle/>
          <a:p>
            <a:pPr algn="ctr" indent="0" marL="0">
              <a:lnSpc>
                <a:spcPct val="105000"/>
              </a:lnSpc>
              <a:buNone/>
            </a:pPr>
            <a:r>
              <a:rPr lang="en-US" sz="1050" b="1" dirty="0">
                <a:solidFill>
                  <a:srgbClr val="990011"/>
                </a:solidFill>
                <a:latin typeface="Calibri" pitchFamily="34" charset="0"/>
                <a:ea typeface="Calibri" pitchFamily="34" charset="-122"/>
                <a:cs typeface="Calibri" pitchFamily="34" charset="-120"/>
              </a:rPr>
              <a:t>Review /</a:t>
            </a:r>
            <a:endParaRPr lang="en-US" sz="1050" dirty="0"/>
          </a:p>
          <a:p>
            <a:pPr algn="ctr" indent="0" marL="0">
              <a:lnSpc>
                <a:spcPct val="105000"/>
              </a:lnSpc>
              <a:buNone/>
            </a:pPr>
            <a:r>
              <a:rPr lang="en-US" sz="1050" b="1" dirty="0">
                <a:solidFill>
                  <a:srgbClr val="990011"/>
                </a:solidFill>
                <a:latin typeface="Calibri" pitchFamily="34" charset="0"/>
                <a:ea typeface="Calibri" pitchFamily="34" charset="-122"/>
                <a:cs typeface="Calibri" pitchFamily="34" charset="-120"/>
              </a:rPr>
              <a:t>Handover</a:t>
            </a:r>
            <a:endParaRPr lang="en-US" sz="1050" dirty="0"/>
          </a:p>
        </p:txBody>
      </p:sp>
      <p:sp>
        <p:nvSpPr>
          <p:cNvPr id="28" name="Text 26"/>
          <p:cNvSpPr txBox="1"/>
          <p:nvPr/>
        </p:nvSpPr>
        <p:spPr>
          <a:xfrm>
            <a:off x="1097280" y="3703320"/>
            <a:ext cx="9966960" cy="1188720"/>
          </a:xfrm>
          <a:prstGeom prst="rect">
            <a:avLst/>
          </a:prstGeom>
          <a:noFill/>
          <a:ln/>
        </p:spPr>
        <p:txBody>
          <a:bodyPr wrap="square" lIns="0" tIns="0" rIns="0" bIns="0" rtlCol="0" anchor="ctr"/>
          <a:lstStyle/>
          <a:p>
            <a:pPr algn="ctr" indent="0" marL="0">
              <a:lnSpc>
                <a:spcPct val="130000"/>
              </a:lnSpc>
              <a:buNone/>
            </a:pPr>
            <a:r>
              <a:rPr lang="en-US" sz="1350" dirty="0">
                <a:solidFill>
                  <a:srgbClr val="F2C6CC"/>
                </a:solidFill>
                <a:latin typeface="Calibri" pitchFamily="34" charset="0"/>
                <a:ea typeface="Calibri" pitchFamily="34" charset="-122"/>
                <a:cs typeface="Calibri" pitchFamily="34" charset="-120"/>
              </a:rPr>
              <a:t>A requirement or issue is first received at the task level, analysed and converted into an implementation plan. The development layer holds the application logic being worked on, while the data layer represents any required database. Testing and validation happen before the task is documented and communicated.</a:t>
            </a:r>
            <a:endParaRPr lang="en-US" sz="1350" dirty="0"/>
          </a:p>
        </p:txBody>
      </p:sp>
      <p:sp>
        <p:nvSpPr>
          <p:cNvPr id="29" name="Shape 27"/>
          <p:cNvSpPr/>
          <p:nvPr/>
        </p:nvSpPr>
        <p:spPr>
          <a:xfrm>
            <a:off x="722376" y="5257800"/>
            <a:ext cx="0" cy="777240"/>
          </a:xfrm>
          <a:prstGeom prst="line">
            <a:avLst/>
          </a:prstGeom>
          <a:noFill/>
          <a:ln w="12700">
            <a:solidFill>
              <a:srgbClr val="F2C6CC"/>
            </a:solidFill>
            <a:prstDash val="solid"/>
          </a:ln>
        </p:spPr>
      </p:sp>
      <p:sp>
        <p:nvSpPr>
          <p:cNvPr id="30" name="Text 28"/>
          <p:cNvSpPr txBox="1"/>
          <p:nvPr/>
        </p:nvSpPr>
        <p:spPr>
          <a:xfrm>
            <a:off x="886968" y="5257800"/>
            <a:ext cx="233172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Task Layer</a:t>
            </a:r>
            <a:endParaRPr lang="en-US" sz="1200" dirty="0"/>
          </a:p>
        </p:txBody>
      </p:sp>
      <p:sp>
        <p:nvSpPr>
          <p:cNvPr id="31" name="Text 29"/>
          <p:cNvSpPr txBox="1"/>
          <p:nvPr/>
        </p:nvSpPr>
        <p:spPr>
          <a:xfrm>
            <a:off x="886968" y="5550408"/>
            <a:ext cx="2331720" cy="457200"/>
          </a:xfrm>
          <a:prstGeom prst="rect">
            <a:avLst/>
          </a:prstGeom>
          <a:noFill/>
          <a:ln/>
        </p:spPr>
        <p:txBody>
          <a:bodyPr wrap="square" lIns="0" tIns="0" rIns="0" bIns="0" rtlCol="0" anchor="ctr"/>
          <a:lstStyle/>
          <a:p>
            <a:pPr indent="0" marL="0">
              <a:lnSpc>
                <a:spcPct val="110000"/>
              </a:lnSpc>
              <a:buNone/>
            </a:pPr>
            <a:r>
              <a:rPr lang="en-US" sz="1000" dirty="0">
                <a:solidFill>
                  <a:srgbClr val="F2C6CC"/>
                </a:solidFill>
                <a:latin typeface="Calibri" pitchFamily="34" charset="0"/>
                <a:ea typeface="Calibri" pitchFamily="34" charset="-122"/>
                <a:cs typeface="Calibri" pitchFamily="34" charset="-120"/>
              </a:rPr>
              <a:t>Requirement or issue intake</a:t>
            </a:r>
            <a:endParaRPr lang="en-US" sz="1000" dirty="0"/>
          </a:p>
        </p:txBody>
      </p:sp>
      <p:sp>
        <p:nvSpPr>
          <p:cNvPr id="32" name="Shape 30"/>
          <p:cNvSpPr/>
          <p:nvPr/>
        </p:nvSpPr>
        <p:spPr>
          <a:xfrm>
            <a:off x="3465576" y="5257800"/>
            <a:ext cx="0" cy="777240"/>
          </a:xfrm>
          <a:prstGeom prst="line">
            <a:avLst/>
          </a:prstGeom>
          <a:noFill/>
          <a:ln w="12700">
            <a:solidFill>
              <a:srgbClr val="F2C6CC"/>
            </a:solidFill>
            <a:prstDash val="solid"/>
          </a:ln>
        </p:spPr>
      </p:sp>
      <p:sp>
        <p:nvSpPr>
          <p:cNvPr id="33" name="Text 31"/>
          <p:cNvSpPr txBox="1"/>
          <p:nvPr/>
        </p:nvSpPr>
        <p:spPr>
          <a:xfrm>
            <a:off x="3630168" y="5257800"/>
            <a:ext cx="233172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Development Layer</a:t>
            </a:r>
            <a:endParaRPr lang="en-US" sz="1200" dirty="0"/>
          </a:p>
        </p:txBody>
      </p:sp>
      <p:sp>
        <p:nvSpPr>
          <p:cNvPr id="34" name="Text 32"/>
          <p:cNvSpPr txBox="1"/>
          <p:nvPr/>
        </p:nvSpPr>
        <p:spPr>
          <a:xfrm>
            <a:off x="3630168" y="5550408"/>
            <a:ext cx="2331720" cy="457200"/>
          </a:xfrm>
          <a:prstGeom prst="rect">
            <a:avLst/>
          </a:prstGeom>
          <a:noFill/>
          <a:ln/>
        </p:spPr>
        <p:txBody>
          <a:bodyPr wrap="square" lIns="0" tIns="0" rIns="0" bIns="0" rtlCol="0" anchor="ctr"/>
          <a:lstStyle/>
          <a:p>
            <a:pPr indent="0" marL="0">
              <a:lnSpc>
                <a:spcPct val="110000"/>
              </a:lnSpc>
              <a:buNone/>
            </a:pPr>
            <a:r>
              <a:rPr lang="en-US" sz="1000" dirty="0">
                <a:solidFill>
                  <a:srgbClr val="F2C6CC"/>
                </a:solidFill>
                <a:latin typeface="Calibri" pitchFamily="34" charset="0"/>
                <a:ea typeface="Calibri" pitchFamily="34" charset="-122"/>
                <a:cs typeface="Calibri" pitchFamily="34" charset="-120"/>
              </a:rPr>
              <a:t>Application logic / configuration</a:t>
            </a:r>
            <a:endParaRPr lang="en-US" sz="1000" dirty="0"/>
          </a:p>
        </p:txBody>
      </p:sp>
      <p:sp>
        <p:nvSpPr>
          <p:cNvPr id="35" name="Shape 33"/>
          <p:cNvSpPr/>
          <p:nvPr/>
        </p:nvSpPr>
        <p:spPr>
          <a:xfrm>
            <a:off x="6208776" y="5257800"/>
            <a:ext cx="0" cy="777240"/>
          </a:xfrm>
          <a:prstGeom prst="line">
            <a:avLst/>
          </a:prstGeom>
          <a:noFill/>
          <a:ln w="12700">
            <a:solidFill>
              <a:srgbClr val="F2C6CC"/>
            </a:solidFill>
            <a:prstDash val="solid"/>
          </a:ln>
        </p:spPr>
      </p:sp>
      <p:sp>
        <p:nvSpPr>
          <p:cNvPr id="36" name="Text 34"/>
          <p:cNvSpPr txBox="1"/>
          <p:nvPr/>
        </p:nvSpPr>
        <p:spPr>
          <a:xfrm>
            <a:off x="6373368" y="5257800"/>
            <a:ext cx="233172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Layer</a:t>
            </a:r>
            <a:endParaRPr lang="en-US" sz="1200" dirty="0"/>
          </a:p>
        </p:txBody>
      </p:sp>
      <p:sp>
        <p:nvSpPr>
          <p:cNvPr id="37" name="Text 35"/>
          <p:cNvSpPr txBox="1"/>
          <p:nvPr/>
        </p:nvSpPr>
        <p:spPr>
          <a:xfrm>
            <a:off x="6373368" y="5550408"/>
            <a:ext cx="2331720" cy="457200"/>
          </a:xfrm>
          <a:prstGeom prst="rect">
            <a:avLst/>
          </a:prstGeom>
          <a:noFill/>
          <a:ln/>
        </p:spPr>
        <p:txBody>
          <a:bodyPr wrap="square" lIns="0" tIns="0" rIns="0" bIns="0" rtlCol="0" anchor="ctr"/>
          <a:lstStyle/>
          <a:p>
            <a:pPr indent="0" marL="0">
              <a:lnSpc>
                <a:spcPct val="110000"/>
              </a:lnSpc>
              <a:buNone/>
            </a:pPr>
            <a:r>
              <a:rPr lang="en-US" sz="1000" dirty="0">
                <a:solidFill>
                  <a:srgbClr val="F2C6CC"/>
                </a:solidFill>
                <a:latin typeface="Calibri" pitchFamily="34" charset="0"/>
                <a:ea typeface="Calibri" pitchFamily="34" charset="-122"/>
                <a:cs typeface="Calibri" pitchFamily="34" charset="-120"/>
              </a:rPr>
              <a:t>Database and structured data</a:t>
            </a:r>
            <a:endParaRPr lang="en-US" sz="1000" dirty="0"/>
          </a:p>
        </p:txBody>
      </p:sp>
      <p:sp>
        <p:nvSpPr>
          <p:cNvPr id="38" name="Shape 36"/>
          <p:cNvSpPr/>
          <p:nvPr/>
        </p:nvSpPr>
        <p:spPr>
          <a:xfrm>
            <a:off x="8951976" y="5257800"/>
            <a:ext cx="0" cy="777240"/>
          </a:xfrm>
          <a:prstGeom prst="line">
            <a:avLst/>
          </a:prstGeom>
          <a:noFill/>
          <a:ln w="12700">
            <a:solidFill>
              <a:srgbClr val="F2C6CC"/>
            </a:solidFill>
            <a:prstDash val="solid"/>
          </a:ln>
        </p:spPr>
      </p:sp>
      <p:sp>
        <p:nvSpPr>
          <p:cNvPr id="39" name="Text 37"/>
          <p:cNvSpPr txBox="1"/>
          <p:nvPr/>
        </p:nvSpPr>
        <p:spPr>
          <a:xfrm>
            <a:off x="9116568" y="5257800"/>
            <a:ext cx="233172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Review Layer</a:t>
            </a:r>
            <a:endParaRPr lang="en-US" sz="1200" dirty="0"/>
          </a:p>
        </p:txBody>
      </p:sp>
      <p:sp>
        <p:nvSpPr>
          <p:cNvPr id="40" name="Text 38"/>
          <p:cNvSpPr txBox="1"/>
          <p:nvPr/>
        </p:nvSpPr>
        <p:spPr>
          <a:xfrm>
            <a:off x="9116568" y="5550408"/>
            <a:ext cx="2331720" cy="457200"/>
          </a:xfrm>
          <a:prstGeom prst="rect">
            <a:avLst/>
          </a:prstGeom>
          <a:noFill/>
          <a:ln/>
        </p:spPr>
        <p:txBody>
          <a:bodyPr wrap="square" lIns="0" tIns="0" rIns="0" bIns="0" rtlCol="0" anchor="ctr"/>
          <a:lstStyle/>
          <a:p>
            <a:pPr indent="0" marL="0">
              <a:lnSpc>
                <a:spcPct val="110000"/>
              </a:lnSpc>
              <a:buNone/>
            </a:pPr>
            <a:r>
              <a:rPr lang="en-US" sz="1000" dirty="0">
                <a:solidFill>
                  <a:srgbClr val="F2C6CC"/>
                </a:solidFill>
                <a:latin typeface="Calibri" pitchFamily="34" charset="0"/>
                <a:ea typeface="Calibri" pitchFamily="34" charset="-122"/>
                <a:cs typeface="Calibri" pitchFamily="34" charset="-120"/>
              </a:rPr>
              <a:t>Testing, documentation &amp; handover</a:t>
            </a:r>
            <a:endParaRPr lang="en-US" sz="1000" dirty="0"/>
          </a:p>
        </p:txBody>
      </p:sp>
      <p:sp>
        <p:nvSpPr>
          <p:cNvPr id="41" name="Text 39"/>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FCF6F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05 · METHODOLOGY</a:t>
            </a:r>
            <a:endParaRPr lang="en-US" sz="12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Seven Steps From Task to Handover</a:t>
            </a:r>
            <a:endParaRPr lang="en-US" sz="3200" dirty="0"/>
          </a:p>
        </p:txBody>
      </p:sp>
      <p:sp>
        <p:nvSpPr>
          <p:cNvPr id="4" name="Shape 2"/>
          <p:cNvSpPr/>
          <p:nvPr/>
        </p:nvSpPr>
        <p:spPr>
          <a:xfrm>
            <a:off x="548640" y="1691640"/>
            <a:ext cx="2697480" cy="1920240"/>
          </a:xfrm>
          <a:prstGeom prst="roundRect">
            <a:avLst>
              <a:gd name="adj" fmla="val 3810"/>
            </a:avLst>
          </a:prstGeom>
          <a:solidFill>
            <a:srgbClr val="FFFFFF"/>
          </a:solidFill>
          <a:ln/>
        </p:spPr>
      </p:sp>
      <p:sp>
        <p:nvSpPr>
          <p:cNvPr id="5" name="Shape 3"/>
          <p:cNvSpPr/>
          <p:nvPr/>
        </p:nvSpPr>
        <p:spPr>
          <a:xfrm>
            <a:off x="749808" y="1874520"/>
            <a:ext cx="457200" cy="457200"/>
          </a:xfrm>
          <a:prstGeom prst="ellipse">
            <a:avLst/>
          </a:prstGeom>
          <a:solidFill>
            <a:srgbClr val="990011"/>
          </a:solidFill>
          <a:ln/>
        </p:spPr>
      </p:sp>
      <p:sp>
        <p:nvSpPr>
          <p:cNvPr id="6" name="Text 4"/>
          <p:cNvSpPr txBox="1"/>
          <p:nvPr/>
        </p:nvSpPr>
        <p:spPr>
          <a:xfrm>
            <a:off x="749808"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731520" y="2468880"/>
            <a:ext cx="2331720"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libri" pitchFamily="34" charset="0"/>
                <a:ea typeface="Calibri" pitchFamily="34" charset="-122"/>
                <a:cs typeface="Calibri" pitchFamily="34" charset="-120"/>
              </a:rPr>
              <a:t>Requirement Understanding</a:t>
            </a:r>
            <a:endParaRPr lang="en-US" sz="1250" dirty="0"/>
          </a:p>
        </p:txBody>
      </p:sp>
      <p:sp>
        <p:nvSpPr>
          <p:cNvPr id="8" name="Text 6"/>
          <p:cNvSpPr txBox="1"/>
          <p:nvPr/>
        </p:nvSpPr>
        <p:spPr>
          <a:xfrm>
            <a:off x="731520" y="2953512"/>
            <a:ext cx="2331720" cy="594360"/>
          </a:xfrm>
          <a:prstGeom prst="rect">
            <a:avLst/>
          </a:prstGeom>
          <a:noFill/>
          <a:ln/>
        </p:spPr>
        <p:txBody>
          <a:bodyPr wrap="square" lIns="0" tIns="0" rIns="0" bIns="0" rtlCol="0" anchor="ctr"/>
          <a:lstStyle/>
          <a:p>
            <a:pPr indent="0" marL="0">
              <a:lnSpc>
                <a:spcPct val="110000"/>
              </a:lnSpc>
              <a:buNone/>
            </a:pPr>
            <a:r>
              <a:rPr lang="en-US" sz="1000" dirty="0">
                <a:solidFill>
                  <a:srgbClr val="6B6B6B"/>
                </a:solidFill>
                <a:latin typeface="Calibri" pitchFamily="34" charset="0"/>
                <a:ea typeface="Calibri" pitchFamily="34" charset="-122"/>
                <a:cs typeface="Calibri" pitchFamily="34" charset="-120"/>
              </a:rPr>
              <a:t>Capture expected output, inputs, constraints &amp; acceptance conditions</a:t>
            </a:r>
            <a:endParaRPr lang="en-US" sz="1000" dirty="0"/>
          </a:p>
        </p:txBody>
      </p:sp>
      <p:sp>
        <p:nvSpPr>
          <p:cNvPr id="9" name="Shape 7"/>
          <p:cNvSpPr/>
          <p:nvPr/>
        </p:nvSpPr>
        <p:spPr>
          <a:xfrm>
            <a:off x="3383280" y="1691640"/>
            <a:ext cx="2697480" cy="1920240"/>
          </a:xfrm>
          <a:prstGeom prst="roundRect">
            <a:avLst>
              <a:gd name="adj" fmla="val 3810"/>
            </a:avLst>
          </a:prstGeom>
          <a:solidFill>
            <a:srgbClr val="FFFFFF"/>
          </a:solidFill>
          <a:ln/>
        </p:spPr>
      </p:sp>
      <p:sp>
        <p:nvSpPr>
          <p:cNvPr id="10" name="Shape 8"/>
          <p:cNvSpPr/>
          <p:nvPr/>
        </p:nvSpPr>
        <p:spPr>
          <a:xfrm>
            <a:off x="3584448" y="1874520"/>
            <a:ext cx="457200" cy="457200"/>
          </a:xfrm>
          <a:prstGeom prst="ellipse">
            <a:avLst/>
          </a:prstGeom>
          <a:solidFill>
            <a:srgbClr val="990011"/>
          </a:solidFill>
          <a:ln/>
        </p:spPr>
      </p:sp>
      <p:sp>
        <p:nvSpPr>
          <p:cNvPr id="11" name="Text 9"/>
          <p:cNvSpPr txBox="1"/>
          <p:nvPr/>
        </p:nvSpPr>
        <p:spPr>
          <a:xfrm>
            <a:off x="3584448"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3566160" y="2468880"/>
            <a:ext cx="2331720"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libri" pitchFamily="34" charset="0"/>
                <a:ea typeface="Calibri" pitchFamily="34" charset="-122"/>
                <a:cs typeface="Calibri" pitchFamily="34" charset="-120"/>
              </a:rPr>
              <a:t>Task Analysis</a:t>
            </a:r>
            <a:endParaRPr lang="en-US" sz="1250" dirty="0"/>
          </a:p>
        </p:txBody>
      </p:sp>
      <p:sp>
        <p:nvSpPr>
          <p:cNvPr id="13" name="Text 11"/>
          <p:cNvSpPr txBox="1"/>
          <p:nvPr/>
        </p:nvSpPr>
        <p:spPr>
          <a:xfrm>
            <a:off x="3566160" y="2953512"/>
            <a:ext cx="2331720" cy="594360"/>
          </a:xfrm>
          <a:prstGeom prst="rect">
            <a:avLst/>
          </a:prstGeom>
          <a:noFill/>
          <a:ln/>
        </p:spPr>
        <p:txBody>
          <a:bodyPr wrap="square" lIns="0" tIns="0" rIns="0" bIns="0" rtlCol="0" anchor="ctr"/>
          <a:lstStyle/>
          <a:p>
            <a:pPr indent="0" marL="0">
              <a:lnSpc>
                <a:spcPct val="110000"/>
              </a:lnSpc>
              <a:buNone/>
            </a:pPr>
            <a:r>
              <a:rPr lang="en-US" sz="1000" dirty="0">
                <a:solidFill>
                  <a:srgbClr val="6B6B6B"/>
                </a:solidFill>
                <a:latin typeface="Calibri" pitchFamily="34" charset="0"/>
                <a:ea typeface="Calibri" pitchFamily="34" charset="-122"/>
                <a:cs typeface="Calibri" pitchFamily="34" charset="-120"/>
              </a:rPr>
              <a:t>Break the task into smaller technical activities and risks</a:t>
            </a:r>
            <a:endParaRPr lang="en-US" sz="1000" dirty="0"/>
          </a:p>
        </p:txBody>
      </p:sp>
      <p:sp>
        <p:nvSpPr>
          <p:cNvPr id="14" name="Shape 12"/>
          <p:cNvSpPr/>
          <p:nvPr/>
        </p:nvSpPr>
        <p:spPr>
          <a:xfrm>
            <a:off x="6217920" y="1691640"/>
            <a:ext cx="2697480" cy="1920240"/>
          </a:xfrm>
          <a:prstGeom prst="roundRect">
            <a:avLst>
              <a:gd name="adj" fmla="val 3810"/>
            </a:avLst>
          </a:prstGeom>
          <a:solidFill>
            <a:srgbClr val="FFFFFF"/>
          </a:solidFill>
          <a:ln/>
        </p:spPr>
      </p:sp>
      <p:sp>
        <p:nvSpPr>
          <p:cNvPr id="15" name="Shape 13"/>
          <p:cNvSpPr/>
          <p:nvPr/>
        </p:nvSpPr>
        <p:spPr>
          <a:xfrm>
            <a:off x="6419088" y="1874520"/>
            <a:ext cx="457200" cy="457200"/>
          </a:xfrm>
          <a:prstGeom prst="ellipse">
            <a:avLst/>
          </a:prstGeom>
          <a:solidFill>
            <a:srgbClr val="990011"/>
          </a:solidFill>
          <a:ln/>
        </p:spPr>
      </p:sp>
      <p:sp>
        <p:nvSpPr>
          <p:cNvPr id="16" name="Text 14"/>
          <p:cNvSpPr txBox="1"/>
          <p:nvPr/>
        </p:nvSpPr>
        <p:spPr>
          <a:xfrm>
            <a:off x="6419088"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6400800" y="2468880"/>
            <a:ext cx="2331720"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libri" pitchFamily="34" charset="0"/>
                <a:ea typeface="Calibri" pitchFamily="34" charset="-122"/>
                <a:cs typeface="Calibri" pitchFamily="34" charset="-120"/>
              </a:rPr>
              <a:t>Planning the Solution</a:t>
            </a:r>
            <a:endParaRPr lang="en-US" sz="1250" dirty="0"/>
          </a:p>
        </p:txBody>
      </p:sp>
      <p:sp>
        <p:nvSpPr>
          <p:cNvPr id="18" name="Text 16"/>
          <p:cNvSpPr txBox="1"/>
          <p:nvPr/>
        </p:nvSpPr>
        <p:spPr>
          <a:xfrm>
            <a:off x="6400800" y="2953512"/>
            <a:ext cx="2331720" cy="594360"/>
          </a:xfrm>
          <a:prstGeom prst="rect">
            <a:avLst/>
          </a:prstGeom>
          <a:noFill/>
          <a:ln/>
        </p:spPr>
        <p:txBody>
          <a:bodyPr wrap="square" lIns="0" tIns="0" rIns="0" bIns="0" rtlCol="0" anchor="ctr"/>
          <a:lstStyle/>
          <a:p>
            <a:pPr indent="0" marL="0">
              <a:lnSpc>
                <a:spcPct val="110000"/>
              </a:lnSpc>
              <a:buNone/>
            </a:pPr>
            <a:r>
              <a:rPr lang="en-US" sz="1000" dirty="0">
                <a:solidFill>
                  <a:srgbClr val="6B6B6B"/>
                </a:solidFill>
                <a:latin typeface="Calibri" pitchFamily="34" charset="0"/>
                <a:ea typeface="Calibri" pitchFamily="34" charset="-122"/>
                <a:cs typeface="Calibri" pitchFamily="34" charset="-120"/>
              </a:rPr>
              <a:t>Prepare a basic solution approach before implementation</a:t>
            </a:r>
            <a:endParaRPr lang="en-US" sz="1000" dirty="0"/>
          </a:p>
        </p:txBody>
      </p:sp>
      <p:sp>
        <p:nvSpPr>
          <p:cNvPr id="19" name="Shape 17"/>
          <p:cNvSpPr/>
          <p:nvPr/>
        </p:nvSpPr>
        <p:spPr>
          <a:xfrm>
            <a:off x="9052560" y="1691640"/>
            <a:ext cx="2697480" cy="1920240"/>
          </a:xfrm>
          <a:prstGeom prst="roundRect">
            <a:avLst>
              <a:gd name="adj" fmla="val 3810"/>
            </a:avLst>
          </a:prstGeom>
          <a:solidFill>
            <a:srgbClr val="FFFFFF"/>
          </a:solidFill>
          <a:ln/>
        </p:spPr>
      </p:sp>
      <p:sp>
        <p:nvSpPr>
          <p:cNvPr id="20" name="Shape 18"/>
          <p:cNvSpPr/>
          <p:nvPr/>
        </p:nvSpPr>
        <p:spPr>
          <a:xfrm>
            <a:off x="9253728" y="1874520"/>
            <a:ext cx="457200" cy="457200"/>
          </a:xfrm>
          <a:prstGeom prst="ellipse">
            <a:avLst/>
          </a:prstGeom>
          <a:solidFill>
            <a:srgbClr val="990011"/>
          </a:solidFill>
          <a:ln/>
        </p:spPr>
      </p:sp>
      <p:sp>
        <p:nvSpPr>
          <p:cNvPr id="21" name="Text 19"/>
          <p:cNvSpPr txBox="1"/>
          <p:nvPr/>
        </p:nvSpPr>
        <p:spPr>
          <a:xfrm>
            <a:off x="9253728"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9235440" y="2468880"/>
            <a:ext cx="2331720"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libri" pitchFamily="34" charset="0"/>
                <a:ea typeface="Calibri" pitchFamily="34" charset="-122"/>
                <a:cs typeface="Calibri" pitchFamily="34" charset="-120"/>
              </a:rPr>
              <a:t>Development / Configuration</a:t>
            </a:r>
            <a:endParaRPr lang="en-US" sz="1250" dirty="0"/>
          </a:p>
        </p:txBody>
      </p:sp>
      <p:sp>
        <p:nvSpPr>
          <p:cNvPr id="23" name="Text 21"/>
          <p:cNvSpPr txBox="1"/>
          <p:nvPr/>
        </p:nvSpPr>
        <p:spPr>
          <a:xfrm>
            <a:off x="9235440" y="2953512"/>
            <a:ext cx="2331720" cy="594360"/>
          </a:xfrm>
          <a:prstGeom prst="rect">
            <a:avLst/>
          </a:prstGeom>
          <a:noFill/>
          <a:ln/>
        </p:spPr>
        <p:txBody>
          <a:bodyPr wrap="square" lIns="0" tIns="0" rIns="0" bIns="0" rtlCol="0" anchor="ctr"/>
          <a:lstStyle/>
          <a:p>
            <a:pPr indent="0" marL="0">
              <a:lnSpc>
                <a:spcPct val="110000"/>
              </a:lnSpc>
              <a:buNone/>
            </a:pPr>
            <a:r>
              <a:rPr lang="en-US" sz="1000" dirty="0">
                <a:solidFill>
                  <a:srgbClr val="6B6B6B"/>
                </a:solidFill>
                <a:latin typeface="Calibri" pitchFamily="34" charset="0"/>
                <a:ea typeface="Calibri" pitchFamily="34" charset="-122"/>
                <a:cs typeface="Calibri" pitchFamily="34" charset="-120"/>
              </a:rPr>
              <a:t>Implement the change with readability &amp; maintainability in mind</a:t>
            </a:r>
            <a:endParaRPr lang="en-US" sz="1000" dirty="0"/>
          </a:p>
        </p:txBody>
      </p:sp>
      <p:sp>
        <p:nvSpPr>
          <p:cNvPr id="24" name="Shape 22"/>
          <p:cNvSpPr/>
          <p:nvPr/>
        </p:nvSpPr>
        <p:spPr>
          <a:xfrm>
            <a:off x="548640" y="3840480"/>
            <a:ext cx="2697480" cy="1920240"/>
          </a:xfrm>
          <a:prstGeom prst="roundRect">
            <a:avLst>
              <a:gd name="adj" fmla="val 3810"/>
            </a:avLst>
          </a:prstGeom>
          <a:solidFill>
            <a:srgbClr val="FFFFFF"/>
          </a:solidFill>
          <a:ln/>
        </p:spPr>
      </p:sp>
      <p:sp>
        <p:nvSpPr>
          <p:cNvPr id="25" name="Shape 23"/>
          <p:cNvSpPr/>
          <p:nvPr/>
        </p:nvSpPr>
        <p:spPr>
          <a:xfrm>
            <a:off x="749808" y="4023360"/>
            <a:ext cx="457200" cy="457200"/>
          </a:xfrm>
          <a:prstGeom prst="ellipse">
            <a:avLst/>
          </a:prstGeom>
          <a:solidFill>
            <a:srgbClr val="990011"/>
          </a:solidFill>
          <a:ln/>
        </p:spPr>
      </p:sp>
      <p:sp>
        <p:nvSpPr>
          <p:cNvPr id="26" name="Text 24"/>
          <p:cNvSpPr txBox="1"/>
          <p:nvPr/>
        </p:nvSpPr>
        <p:spPr>
          <a:xfrm>
            <a:off x="749808"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731520" y="4617720"/>
            <a:ext cx="2331720"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libri" pitchFamily="34" charset="0"/>
                <a:ea typeface="Calibri" pitchFamily="34" charset="-122"/>
                <a:cs typeface="Calibri" pitchFamily="34" charset="-120"/>
              </a:rPr>
              <a:t>Testing &amp; Debugging</a:t>
            </a:r>
            <a:endParaRPr lang="en-US" sz="1250" dirty="0"/>
          </a:p>
        </p:txBody>
      </p:sp>
      <p:sp>
        <p:nvSpPr>
          <p:cNvPr id="28" name="Text 26"/>
          <p:cNvSpPr txBox="1"/>
          <p:nvPr/>
        </p:nvSpPr>
        <p:spPr>
          <a:xfrm>
            <a:off x="731520" y="5102352"/>
            <a:ext cx="2331720" cy="594360"/>
          </a:xfrm>
          <a:prstGeom prst="rect">
            <a:avLst/>
          </a:prstGeom>
          <a:noFill/>
          <a:ln/>
        </p:spPr>
        <p:txBody>
          <a:bodyPr wrap="square" lIns="0" tIns="0" rIns="0" bIns="0" rtlCol="0" anchor="ctr"/>
          <a:lstStyle/>
          <a:p>
            <a:pPr indent="0" marL="0">
              <a:lnSpc>
                <a:spcPct val="110000"/>
              </a:lnSpc>
              <a:buNone/>
            </a:pPr>
            <a:r>
              <a:rPr lang="en-US" sz="1000" dirty="0">
                <a:solidFill>
                  <a:srgbClr val="6B6B6B"/>
                </a:solidFill>
                <a:latin typeface="Calibri" pitchFamily="34" charset="0"/>
                <a:ea typeface="Calibri" pitchFamily="34" charset="-122"/>
                <a:cs typeface="Calibri" pitchFamily="34" charset="-120"/>
              </a:rPr>
              <a:t>Confirm the change works without an obvious regression</a:t>
            </a:r>
            <a:endParaRPr lang="en-US" sz="1000" dirty="0"/>
          </a:p>
        </p:txBody>
      </p:sp>
      <p:sp>
        <p:nvSpPr>
          <p:cNvPr id="29" name="Shape 27"/>
          <p:cNvSpPr/>
          <p:nvPr/>
        </p:nvSpPr>
        <p:spPr>
          <a:xfrm>
            <a:off x="3383280" y="3840480"/>
            <a:ext cx="2697480" cy="1920240"/>
          </a:xfrm>
          <a:prstGeom prst="roundRect">
            <a:avLst>
              <a:gd name="adj" fmla="val 3810"/>
            </a:avLst>
          </a:prstGeom>
          <a:solidFill>
            <a:srgbClr val="FFFFFF"/>
          </a:solidFill>
          <a:ln/>
        </p:spPr>
      </p:sp>
      <p:sp>
        <p:nvSpPr>
          <p:cNvPr id="30" name="Shape 28"/>
          <p:cNvSpPr/>
          <p:nvPr/>
        </p:nvSpPr>
        <p:spPr>
          <a:xfrm>
            <a:off x="3584448" y="4023360"/>
            <a:ext cx="457200" cy="457200"/>
          </a:xfrm>
          <a:prstGeom prst="ellipse">
            <a:avLst/>
          </a:prstGeom>
          <a:solidFill>
            <a:srgbClr val="990011"/>
          </a:solidFill>
          <a:ln/>
        </p:spPr>
      </p:sp>
      <p:sp>
        <p:nvSpPr>
          <p:cNvPr id="31" name="Text 29"/>
          <p:cNvSpPr txBox="1"/>
          <p:nvPr/>
        </p:nvSpPr>
        <p:spPr>
          <a:xfrm>
            <a:off x="3584448"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txBox="1"/>
          <p:nvPr/>
        </p:nvSpPr>
        <p:spPr>
          <a:xfrm>
            <a:off x="3566160" y="4617720"/>
            <a:ext cx="2331720"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libri" pitchFamily="34" charset="0"/>
                <a:ea typeface="Calibri" pitchFamily="34" charset="-122"/>
                <a:cs typeface="Calibri" pitchFamily="34" charset="-120"/>
              </a:rPr>
              <a:t>Version Control &amp; Review</a:t>
            </a:r>
            <a:endParaRPr lang="en-US" sz="1250" dirty="0"/>
          </a:p>
        </p:txBody>
      </p:sp>
      <p:sp>
        <p:nvSpPr>
          <p:cNvPr id="33" name="Text 31"/>
          <p:cNvSpPr txBox="1"/>
          <p:nvPr/>
        </p:nvSpPr>
        <p:spPr>
          <a:xfrm>
            <a:off x="3566160" y="5102352"/>
            <a:ext cx="2331720" cy="594360"/>
          </a:xfrm>
          <a:prstGeom prst="rect">
            <a:avLst/>
          </a:prstGeom>
          <a:noFill/>
          <a:ln/>
        </p:spPr>
        <p:txBody>
          <a:bodyPr wrap="square" lIns="0" tIns="0" rIns="0" bIns="0" rtlCol="0" anchor="ctr"/>
          <a:lstStyle/>
          <a:p>
            <a:pPr indent="0" marL="0">
              <a:lnSpc>
                <a:spcPct val="110000"/>
              </a:lnSpc>
              <a:buNone/>
            </a:pPr>
            <a:r>
              <a:rPr lang="en-US" sz="1000" dirty="0">
                <a:solidFill>
                  <a:srgbClr val="6B6B6B"/>
                </a:solidFill>
                <a:latin typeface="Calibri" pitchFamily="34" charset="0"/>
                <a:ea typeface="Calibri" pitchFamily="34" charset="-122"/>
                <a:cs typeface="Calibri" pitchFamily="34" charset="-120"/>
              </a:rPr>
              <a:t>Track changes; review by a mentor or senior team member</a:t>
            </a:r>
            <a:endParaRPr lang="en-US" sz="1000" dirty="0"/>
          </a:p>
        </p:txBody>
      </p:sp>
      <p:sp>
        <p:nvSpPr>
          <p:cNvPr id="34" name="Shape 32"/>
          <p:cNvSpPr/>
          <p:nvPr/>
        </p:nvSpPr>
        <p:spPr>
          <a:xfrm>
            <a:off x="6217920" y="3840480"/>
            <a:ext cx="2697480" cy="1920240"/>
          </a:xfrm>
          <a:prstGeom prst="roundRect">
            <a:avLst>
              <a:gd name="adj" fmla="val 3810"/>
            </a:avLst>
          </a:prstGeom>
          <a:solidFill>
            <a:srgbClr val="FFFFFF"/>
          </a:solidFill>
          <a:ln/>
        </p:spPr>
      </p:sp>
      <p:sp>
        <p:nvSpPr>
          <p:cNvPr id="35" name="Shape 33"/>
          <p:cNvSpPr/>
          <p:nvPr/>
        </p:nvSpPr>
        <p:spPr>
          <a:xfrm>
            <a:off x="6419088" y="4023360"/>
            <a:ext cx="457200" cy="457200"/>
          </a:xfrm>
          <a:prstGeom prst="ellipse">
            <a:avLst/>
          </a:prstGeom>
          <a:solidFill>
            <a:srgbClr val="990011"/>
          </a:solidFill>
          <a:ln/>
        </p:spPr>
      </p:sp>
      <p:sp>
        <p:nvSpPr>
          <p:cNvPr id="36" name="Text 34"/>
          <p:cNvSpPr txBox="1"/>
          <p:nvPr/>
        </p:nvSpPr>
        <p:spPr>
          <a:xfrm>
            <a:off x="6419088"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7" name="Text 35"/>
          <p:cNvSpPr txBox="1"/>
          <p:nvPr/>
        </p:nvSpPr>
        <p:spPr>
          <a:xfrm>
            <a:off x="6400800" y="4617720"/>
            <a:ext cx="2331720" cy="50292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Calibri" pitchFamily="34" charset="0"/>
                <a:ea typeface="Calibri" pitchFamily="34" charset="-122"/>
                <a:cs typeface="Calibri" pitchFamily="34" charset="-120"/>
              </a:rPr>
              <a:t>Documentation</a:t>
            </a:r>
            <a:endParaRPr lang="en-US" sz="1250" dirty="0"/>
          </a:p>
        </p:txBody>
      </p:sp>
      <p:sp>
        <p:nvSpPr>
          <p:cNvPr id="38" name="Text 36"/>
          <p:cNvSpPr txBox="1"/>
          <p:nvPr/>
        </p:nvSpPr>
        <p:spPr>
          <a:xfrm>
            <a:off x="6400800" y="5102352"/>
            <a:ext cx="2331720" cy="594360"/>
          </a:xfrm>
          <a:prstGeom prst="rect">
            <a:avLst/>
          </a:prstGeom>
          <a:noFill/>
          <a:ln/>
        </p:spPr>
        <p:txBody>
          <a:bodyPr wrap="square" lIns="0" tIns="0" rIns="0" bIns="0" rtlCol="0" anchor="ctr"/>
          <a:lstStyle/>
          <a:p>
            <a:pPr indent="0" marL="0">
              <a:lnSpc>
                <a:spcPct val="110000"/>
              </a:lnSpc>
              <a:buNone/>
            </a:pPr>
            <a:r>
              <a:rPr lang="en-US" sz="1000" dirty="0">
                <a:solidFill>
                  <a:srgbClr val="6B6B6B"/>
                </a:solidFill>
                <a:latin typeface="Calibri" pitchFamily="34" charset="0"/>
                <a:ea typeface="Calibri" pitchFamily="34" charset="-122"/>
                <a:cs typeface="Calibri" pitchFamily="34" charset="-120"/>
              </a:rPr>
              <a:t>Record work completed, observations, results &amp; follow-ups</a:t>
            </a:r>
            <a:endParaRPr lang="en-US" sz="1000" dirty="0"/>
          </a:p>
        </p:txBody>
      </p:sp>
      <p:sp>
        <p:nvSpPr>
          <p:cNvPr id="39" name="Text 37"/>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990011"/>
                </a:solidFill>
                <a:latin typeface="Calibri" pitchFamily="34" charset="0"/>
                <a:ea typeface="Calibri" pitchFamily="34" charset="-122"/>
                <a:cs typeface="Calibri" pitchFamily="34" charset="-120"/>
              </a:rPr>
              <a:t>06 · EXPECTED OUTCOMES</a:t>
            </a:r>
            <a:endParaRPr lang="en-US" sz="1200" dirty="0"/>
          </a:p>
        </p:txBody>
      </p:sp>
      <p:sp>
        <p:nvSpPr>
          <p:cNvPr id="3" name="Text 1"/>
          <p:cNvSpPr txBox="1"/>
          <p:nvPr/>
        </p:nvSpPr>
        <p:spPr>
          <a:xfrm>
            <a:off x="548640" y="777240"/>
            <a:ext cx="11064240" cy="64008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What the Internship Delivered</a:t>
            </a:r>
            <a:endParaRPr lang="en-US" sz="3200" dirty="0"/>
          </a:p>
        </p:txBody>
      </p:sp>
      <p:sp>
        <p:nvSpPr>
          <p:cNvPr id="4" name="Shape 2"/>
          <p:cNvSpPr/>
          <p:nvPr/>
        </p:nvSpPr>
        <p:spPr>
          <a:xfrm>
            <a:off x="548640" y="1792224"/>
            <a:ext cx="5394960" cy="777240"/>
          </a:xfrm>
          <a:prstGeom prst="roundRect">
            <a:avLst>
              <a:gd name="adj" fmla="val 8235"/>
            </a:avLst>
          </a:prstGeom>
          <a:solidFill>
            <a:srgbClr val="FCF6F5"/>
          </a:solidFill>
          <a:ln/>
        </p:spPr>
      </p:sp>
      <p:sp>
        <p:nvSpPr>
          <p:cNvPr id="5" name="Shape 3"/>
          <p:cNvSpPr/>
          <p:nvPr/>
        </p:nvSpPr>
        <p:spPr>
          <a:xfrm>
            <a:off x="713232" y="1906524"/>
            <a:ext cx="457200" cy="457200"/>
          </a:xfrm>
          <a:prstGeom prst="ellipse">
            <a:avLst/>
          </a:prstGeom>
          <a:solidFill>
            <a:srgbClr val="990011"/>
          </a:solidFill>
          <a:ln/>
        </p:spPr>
      </p:sp>
      <p:sp>
        <p:nvSpPr>
          <p:cNvPr id="6" name="Text 4"/>
          <p:cNvSpPr txBox="1"/>
          <p:nvPr/>
        </p:nvSpPr>
        <p:spPr>
          <a:xfrm>
            <a:off x="713232" y="190652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25880" y="1792224"/>
            <a:ext cx="4480560" cy="777240"/>
          </a:xfrm>
          <a:prstGeom prst="rect">
            <a:avLst/>
          </a:prstGeom>
          <a:noFill/>
          <a:ln/>
        </p:spPr>
        <p:txBody>
          <a:bodyPr wrap="square" lIns="0" tIns="0" rIns="0" bIns="0" rtlCol="0" anchor="ctr"/>
          <a:lstStyle/>
          <a:p>
            <a:pPr indent="0" marL="0">
              <a:lnSpc>
                <a:spcPct val="110000"/>
              </a:lnSpc>
              <a:buNone/>
            </a:pPr>
            <a:r>
              <a:rPr lang="en-US" sz="1150" dirty="0">
                <a:solidFill>
                  <a:srgbClr val="1A1A1A"/>
                </a:solidFill>
                <a:latin typeface="Calibri" pitchFamily="34" charset="0"/>
                <a:ea typeface="Calibri" pitchFamily="34" charset="-122"/>
                <a:cs typeface="Calibri" pitchFamily="34" charset="-120"/>
              </a:rPr>
              <a:t>Better understanding of professional software &amp; IT workflows</a:t>
            </a:r>
            <a:endParaRPr lang="en-US" sz="1150" dirty="0"/>
          </a:p>
        </p:txBody>
      </p:sp>
      <p:sp>
        <p:nvSpPr>
          <p:cNvPr id="8" name="Shape 6"/>
          <p:cNvSpPr/>
          <p:nvPr/>
        </p:nvSpPr>
        <p:spPr>
          <a:xfrm>
            <a:off x="6263640" y="1792224"/>
            <a:ext cx="5394960" cy="777240"/>
          </a:xfrm>
          <a:prstGeom prst="roundRect">
            <a:avLst>
              <a:gd name="adj" fmla="val 8235"/>
            </a:avLst>
          </a:prstGeom>
          <a:solidFill>
            <a:srgbClr val="FCF6F5"/>
          </a:solidFill>
          <a:ln/>
        </p:spPr>
      </p:sp>
      <p:sp>
        <p:nvSpPr>
          <p:cNvPr id="9" name="Shape 7"/>
          <p:cNvSpPr/>
          <p:nvPr/>
        </p:nvSpPr>
        <p:spPr>
          <a:xfrm>
            <a:off x="6428232" y="1906524"/>
            <a:ext cx="457200" cy="457200"/>
          </a:xfrm>
          <a:prstGeom prst="ellipse">
            <a:avLst/>
          </a:prstGeom>
          <a:solidFill>
            <a:srgbClr val="990011"/>
          </a:solidFill>
          <a:ln/>
        </p:spPr>
      </p:sp>
      <p:sp>
        <p:nvSpPr>
          <p:cNvPr id="10" name="Text 8"/>
          <p:cNvSpPr txBox="1"/>
          <p:nvPr/>
        </p:nvSpPr>
        <p:spPr>
          <a:xfrm>
            <a:off x="6428232" y="190652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7040880" y="1792224"/>
            <a:ext cx="4480560" cy="777240"/>
          </a:xfrm>
          <a:prstGeom prst="rect">
            <a:avLst/>
          </a:prstGeom>
          <a:noFill/>
          <a:ln/>
        </p:spPr>
        <p:txBody>
          <a:bodyPr wrap="square" lIns="0" tIns="0" rIns="0" bIns="0" rtlCol="0" anchor="ctr"/>
          <a:lstStyle/>
          <a:p>
            <a:pPr indent="0" marL="0">
              <a:lnSpc>
                <a:spcPct val="110000"/>
              </a:lnSpc>
              <a:buNone/>
            </a:pPr>
            <a:r>
              <a:rPr lang="en-US" sz="1150" dirty="0">
                <a:solidFill>
                  <a:srgbClr val="1A1A1A"/>
                </a:solidFill>
                <a:latin typeface="Calibri" pitchFamily="34" charset="0"/>
                <a:ea typeface="Calibri" pitchFamily="34" charset="-122"/>
                <a:cs typeface="Calibri" pitchFamily="34" charset="-120"/>
              </a:rPr>
              <a:t>Improved programming, debugging and problem-solving ability</a:t>
            </a:r>
            <a:endParaRPr lang="en-US" sz="1150" dirty="0"/>
          </a:p>
        </p:txBody>
      </p:sp>
      <p:sp>
        <p:nvSpPr>
          <p:cNvPr id="12" name="Shape 10"/>
          <p:cNvSpPr/>
          <p:nvPr/>
        </p:nvSpPr>
        <p:spPr>
          <a:xfrm>
            <a:off x="548640" y="2752344"/>
            <a:ext cx="5394960" cy="777240"/>
          </a:xfrm>
          <a:prstGeom prst="roundRect">
            <a:avLst>
              <a:gd name="adj" fmla="val 8235"/>
            </a:avLst>
          </a:prstGeom>
          <a:solidFill>
            <a:srgbClr val="FCF6F5"/>
          </a:solidFill>
          <a:ln/>
        </p:spPr>
      </p:sp>
      <p:sp>
        <p:nvSpPr>
          <p:cNvPr id="13" name="Shape 11"/>
          <p:cNvSpPr/>
          <p:nvPr/>
        </p:nvSpPr>
        <p:spPr>
          <a:xfrm>
            <a:off x="713232" y="2866644"/>
            <a:ext cx="457200" cy="457200"/>
          </a:xfrm>
          <a:prstGeom prst="ellipse">
            <a:avLst/>
          </a:prstGeom>
          <a:solidFill>
            <a:srgbClr val="990011"/>
          </a:solidFill>
          <a:ln/>
        </p:spPr>
      </p:sp>
      <p:sp>
        <p:nvSpPr>
          <p:cNvPr id="14" name="Text 12"/>
          <p:cNvSpPr txBox="1"/>
          <p:nvPr/>
        </p:nvSpPr>
        <p:spPr>
          <a:xfrm>
            <a:off x="713232" y="28666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325880" y="2752344"/>
            <a:ext cx="4480560" cy="777240"/>
          </a:xfrm>
          <a:prstGeom prst="rect">
            <a:avLst/>
          </a:prstGeom>
          <a:noFill/>
          <a:ln/>
        </p:spPr>
        <p:txBody>
          <a:bodyPr wrap="square" lIns="0" tIns="0" rIns="0" bIns="0" rtlCol="0" anchor="ctr"/>
          <a:lstStyle/>
          <a:p>
            <a:pPr indent="0" marL="0">
              <a:lnSpc>
                <a:spcPct val="110000"/>
              </a:lnSpc>
              <a:buNone/>
            </a:pPr>
            <a:r>
              <a:rPr lang="en-US" sz="1150" dirty="0">
                <a:solidFill>
                  <a:srgbClr val="1A1A1A"/>
                </a:solidFill>
                <a:latin typeface="Calibri" pitchFamily="34" charset="0"/>
                <a:ea typeface="Calibri" pitchFamily="34" charset="-122"/>
                <a:cs typeface="Calibri" pitchFamily="34" charset="-120"/>
              </a:rPr>
              <a:t>Practical awareness of automobile operations &amp; technology life cycle</a:t>
            </a:r>
            <a:endParaRPr lang="en-US" sz="1150" dirty="0"/>
          </a:p>
        </p:txBody>
      </p:sp>
      <p:sp>
        <p:nvSpPr>
          <p:cNvPr id="16" name="Shape 14"/>
          <p:cNvSpPr/>
          <p:nvPr/>
        </p:nvSpPr>
        <p:spPr>
          <a:xfrm>
            <a:off x="6263640" y="2752344"/>
            <a:ext cx="5394960" cy="777240"/>
          </a:xfrm>
          <a:prstGeom prst="roundRect">
            <a:avLst>
              <a:gd name="adj" fmla="val 8235"/>
            </a:avLst>
          </a:prstGeom>
          <a:solidFill>
            <a:srgbClr val="FCF6F5"/>
          </a:solidFill>
          <a:ln/>
        </p:spPr>
      </p:sp>
      <p:sp>
        <p:nvSpPr>
          <p:cNvPr id="17" name="Shape 15"/>
          <p:cNvSpPr/>
          <p:nvPr/>
        </p:nvSpPr>
        <p:spPr>
          <a:xfrm>
            <a:off x="6428232" y="2866644"/>
            <a:ext cx="457200" cy="457200"/>
          </a:xfrm>
          <a:prstGeom prst="ellipse">
            <a:avLst/>
          </a:prstGeom>
          <a:solidFill>
            <a:srgbClr val="990011"/>
          </a:solidFill>
          <a:ln/>
        </p:spPr>
      </p:sp>
      <p:sp>
        <p:nvSpPr>
          <p:cNvPr id="18" name="Text 16"/>
          <p:cNvSpPr txBox="1"/>
          <p:nvPr/>
        </p:nvSpPr>
        <p:spPr>
          <a:xfrm>
            <a:off x="6428232" y="28666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7040880" y="2752344"/>
            <a:ext cx="4480560" cy="777240"/>
          </a:xfrm>
          <a:prstGeom prst="rect">
            <a:avLst/>
          </a:prstGeom>
          <a:noFill/>
          <a:ln/>
        </p:spPr>
        <p:txBody>
          <a:bodyPr wrap="square" lIns="0" tIns="0" rIns="0" bIns="0" rtlCol="0" anchor="ctr"/>
          <a:lstStyle/>
          <a:p>
            <a:pPr indent="0" marL="0">
              <a:lnSpc>
                <a:spcPct val="110000"/>
              </a:lnSpc>
              <a:buNone/>
            </a:pPr>
            <a:r>
              <a:rPr lang="en-US" sz="1150" dirty="0">
                <a:solidFill>
                  <a:srgbClr val="1A1A1A"/>
                </a:solidFill>
                <a:latin typeface="Calibri" pitchFamily="34" charset="0"/>
                <a:ea typeface="Calibri" pitchFamily="34" charset="-122"/>
                <a:cs typeface="Calibri" pitchFamily="34" charset="-120"/>
              </a:rPr>
              <a:t>Basic experience with version control, testing and issue tracking</a:t>
            </a:r>
            <a:endParaRPr lang="en-US" sz="1150" dirty="0"/>
          </a:p>
        </p:txBody>
      </p:sp>
      <p:sp>
        <p:nvSpPr>
          <p:cNvPr id="20" name="Shape 18"/>
          <p:cNvSpPr/>
          <p:nvPr/>
        </p:nvSpPr>
        <p:spPr>
          <a:xfrm>
            <a:off x="548640" y="3712464"/>
            <a:ext cx="5394960" cy="777240"/>
          </a:xfrm>
          <a:prstGeom prst="roundRect">
            <a:avLst>
              <a:gd name="adj" fmla="val 8235"/>
            </a:avLst>
          </a:prstGeom>
          <a:solidFill>
            <a:srgbClr val="FCF6F5"/>
          </a:solidFill>
          <a:ln/>
        </p:spPr>
      </p:sp>
      <p:sp>
        <p:nvSpPr>
          <p:cNvPr id="21" name="Shape 19"/>
          <p:cNvSpPr/>
          <p:nvPr/>
        </p:nvSpPr>
        <p:spPr>
          <a:xfrm>
            <a:off x="713232" y="3826764"/>
            <a:ext cx="457200" cy="457200"/>
          </a:xfrm>
          <a:prstGeom prst="ellipse">
            <a:avLst/>
          </a:prstGeom>
          <a:solidFill>
            <a:srgbClr val="990011"/>
          </a:solidFill>
          <a:ln/>
        </p:spPr>
      </p:sp>
      <p:sp>
        <p:nvSpPr>
          <p:cNvPr id="22" name="Text 20"/>
          <p:cNvSpPr txBox="1"/>
          <p:nvPr/>
        </p:nvSpPr>
        <p:spPr>
          <a:xfrm>
            <a:off x="713232" y="38267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1325880" y="3712464"/>
            <a:ext cx="4480560" cy="777240"/>
          </a:xfrm>
          <a:prstGeom prst="rect">
            <a:avLst/>
          </a:prstGeom>
          <a:noFill/>
          <a:ln/>
        </p:spPr>
        <p:txBody>
          <a:bodyPr wrap="square" lIns="0" tIns="0" rIns="0" bIns="0" rtlCol="0" anchor="ctr"/>
          <a:lstStyle/>
          <a:p>
            <a:pPr indent="0" marL="0">
              <a:lnSpc>
                <a:spcPct val="110000"/>
              </a:lnSpc>
              <a:buNone/>
            </a:pPr>
            <a:r>
              <a:rPr lang="en-US" sz="1150" dirty="0">
                <a:solidFill>
                  <a:srgbClr val="1A1A1A"/>
                </a:solidFill>
                <a:latin typeface="Calibri" pitchFamily="34" charset="0"/>
                <a:ea typeface="Calibri" pitchFamily="34" charset="-122"/>
                <a:cs typeface="Calibri" pitchFamily="34" charset="-120"/>
              </a:rPr>
              <a:t>Improved understanding of databases, web tech and app workflows</a:t>
            </a:r>
            <a:endParaRPr lang="en-US" sz="1150" dirty="0"/>
          </a:p>
        </p:txBody>
      </p:sp>
      <p:sp>
        <p:nvSpPr>
          <p:cNvPr id="24" name="Shape 22"/>
          <p:cNvSpPr/>
          <p:nvPr/>
        </p:nvSpPr>
        <p:spPr>
          <a:xfrm>
            <a:off x="6263640" y="3712464"/>
            <a:ext cx="5394960" cy="777240"/>
          </a:xfrm>
          <a:prstGeom prst="roundRect">
            <a:avLst>
              <a:gd name="adj" fmla="val 8235"/>
            </a:avLst>
          </a:prstGeom>
          <a:solidFill>
            <a:srgbClr val="FCF6F5"/>
          </a:solidFill>
          <a:ln/>
        </p:spPr>
      </p:sp>
      <p:sp>
        <p:nvSpPr>
          <p:cNvPr id="25" name="Shape 23"/>
          <p:cNvSpPr/>
          <p:nvPr/>
        </p:nvSpPr>
        <p:spPr>
          <a:xfrm>
            <a:off x="6428232" y="3826764"/>
            <a:ext cx="457200" cy="457200"/>
          </a:xfrm>
          <a:prstGeom prst="ellipse">
            <a:avLst/>
          </a:prstGeom>
          <a:solidFill>
            <a:srgbClr val="990011"/>
          </a:solidFill>
          <a:ln/>
        </p:spPr>
      </p:sp>
      <p:sp>
        <p:nvSpPr>
          <p:cNvPr id="26" name="Text 24"/>
          <p:cNvSpPr txBox="1"/>
          <p:nvPr/>
        </p:nvSpPr>
        <p:spPr>
          <a:xfrm>
            <a:off x="6428232" y="38267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txBox="1"/>
          <p:nvPr/>
        </p:nvSpPr>
        <p:spPr>
          <a:xfrm>
            <a:off x="7040880" y="3712464"/>
            <a:ext cx="4480560" cy="777240"/>
          </a:xfrm>
          <a:prstGeom prst="rect">
            <a:avLst/>
          </a:prstGeom>
          <a:noFill/>
          <a:ln/>
        </p:spPr>
        <p:txBody>
          <a:bodyPr wrap="square" lIns="0" tIns="0" rIns="0" bIns="0" rtlCol="0" anchor="ctr"/>
          <a:lstStyle/>
          <a:p>
            <a:pPr indent="0" marL="0">
              <a:lnSpc>
                <a:spcPct val="110000"/>
              </a:lnSpc>
              <a:buNone/>
            </a:pPr>
            <a:r>
              <a:rPr lang="en-US" sz="1150" dirty="0">
                <a:solidFill>
                  <a:srgbClr val="1A1A1A"/>
                </a:solidFill>
                <a:latin typeface="Calibri" pitchFamily="34" charset="0"/>
                <a:ea typeface="Calibri" pitchFamily="34" charset="-122"/>
                <a:cs typeface="Calibri" pitchFamily="34" charset="-120"/>
              </a:rPr>
              <a:t>Stronger technical documentation &amp; communication skills</a:t>
            </a:r>
            <a:endParaRPr lang="en-US" sz="1150" dirty="0"/>
          </a:p>
        </p:txBody>
      </p:sp>
      <p:sp>
        <p:nvSpPr>
          <p:cNvPr id="28" name="Shape 26"/>
          <p:cNvSpPr/>
          <p:nvPr/>
        </p:nvSpPr>
        <p:spPr>
          <a:xfrm>
            <a:off x="548640" y="4672584"/>
            <a:ext cx="5394960" cy="777240"/>
          </a:xfrm>
          <a:prstGeom prst="roundRect">
            <a:avLst>
              <a:gd name="adj" fmla="val 8235"/>
            </a:avLst>
          </a:prstGeom>
          <a:solidFill>
            <a:srgbClr val="FCF6F5"/>
          </a:solidFill>
          <a:ln/>
        </p:spPr>
      </p:sp>
      <p:sp>
        <p:nvSpPr>
          <p:cNvPr id="29" name="Shape 27"/>
          <p:cNvSpPr/>
          <p:nvPr/>
        </p:nvSpPr>
        <p:spPr>
          <a:xfrm>
            <a:off x="713232" y="4786884"/>
            <a:ext cx="457200" cy="457200"/>
          </a:xfrm>
          <a:prstGeom prst="ellipse">
            <a:avLst/>
          </a:prstGeom>
          <a:solidFill>
            <a:srgbClr val="990011"/>
          </a:solidFill>
          <a:ln/>
        </p:spPr>
      </p:sp>
      <p:sp>
        <p:nvSpPr>
          <p:cNvPr id="30" name="Text 28"/>
          <p:cNvSpPr txBox="1"/>
          <p:nvPr/>
        </p:nvSpPr>
        <p:spPr>
          <a:xfrm>
            <a:off x="713232" y="47868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1" name="Text 29"/>
          <p:cNvSpPr txBox="1"/>
          <p:nvPr/>
        </p:nvSpPr>
        <p:spPr>
          <a:xfrm>
            <a:off x="1325880" y="4672584"/>
            <a:ext cx="4480560" cy="777240"/>
          </a:xfrm>
          <a:prstGeom prst="rect">
            <a:avLst/>
          </a:prstGeom>
          <a:noFill/>
          <a:ln/>
        </p:spPr>
        <p:txBody>
          <a:bodyPr wrap="square" lIns="0" tIns="0" rIns="0" bIns="0" rtlCol="0" anchor="ctr"/>
          <a:lstStyle/>
          <a:p>
            <a:pPr indent="0" marL="0">
              <a:lnSpc>
                <a:spcPct val="110000"/>
              </a:lnSpc>
              <a:buNone/>
            </a:pPr>
            <a:r>
              <a:rPr lang="en-US" sz="1150" dirty="0">
                <a:solidFill>
                  <a:srgbClr val="1A1A1A"/>
                </a:solidFill>
                <a:latin typeface="Calibri" pitchFamily="34" charset="0"/>
                <a:ea typeface="Calibri" pitchFamily="34" charset="-122"/>
                <a:cs typeface="Calibri" pitchFamily="34" charset="-120"/>
              </a:rPr>
              <a:t>Greater awareness of professional ethics, confidentiality &amp; security</a:t>
            </a:r>
            <a:endParaRPr lang="en-US" sz="1150" dirty="0"/>
          </a:p>
        </p:txBody>
      </p:sp>
      <p:sp>
        <p:nvSpPr>
          <p:cNvPr id="32" name="Shape 30"/>
          <p:cNvSpPr/>
          <p:nvPr/>
        </p:nvSpPr>
        <p:spPr>
          <a:xfrm>
            <a:off x="6263640" y="4672584"/>
            <a:ext cx="5394960" cy="777240"/>
          </a:xfrm>
          <a:prstGeom prst="roundRect">
            <a:avLst>
              <a:gd name="adj" fmla="val 8235"/>
            </a:avLst>
          </a:prstGeom>
          <a:solidFill>
            <a:srgbClr val="FCF6F5"/>
          </a:solidFill>
          <a:ln/>
        </p:spPr>
      </p:sp>
      <p:sp>
        <p:nvSpPr>
          <p:cNvPr id="33" name="Shape 31"/>
          <p:cNvSpPr/>
          <p:nvPr/>
        </p:nvSpPr>
        <p:spPr>
          <a:xfrm>
            <a:off x="6428232" y="4786884"/>
            <a:ext cx="457200" cy="457200"/>
          </a:xfrm>
          <a:prstGeom prst="ellipse">
            <a:avLst/>
          </a:prstGeom>
          <a:solidFill>
            <a:srgbClr val="990011"/>
          </a:solidFill>
          <a:ln/>
        </p:spPr>
      </p:sp>
      <p:sp>
        <p:nvSpPr>
          <p:cNvPr id="34" name="Text 32"/>
          <p:cNvSpPr txBox="1"/>
          <p:nvPr/>
        </p:nvSpPr>
        <p:spPr>
          <a:xfrm>
            <a:off x="6428232" y="47868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5" name="Text 33"/>
          <p:cNvSpPr txBox="1"/>
          <p:nvPr/>
        </p:nvSpPr>
        <p:spPr>
          <a:xfrm>
            <a:off x="7040880" y="4672584"/>
            <a:ext cx="4480560" cy="777240"/>
          </a:xfrm>
          <a:prstGeom prst="rect">
            <a:avLst/>
          </a:prstGeom>
          <a:noFill/>
          <a:ln/>
        </p:spPr>
        <p:txBody>
          <a:bodyPr wrap="square" lIns="0" tIns="0" rIns="0" bIns="0" rtlCol="0" anchor="ctr"/>
          <a:lstStyle/>
          <a:p>
            <a:pPr indent="0" marL="0">
              <a:lnSpc>
                <a:spcPct val="110000"/>
              </a:lnSpc>
              <a:buNone/>
            </a:pPr>
            <a:r>
              <a:rPr lang="en-US" sz="1150" dirty="0">
                <a:solidFill>
                  <a:srgbClr val="1A1A1A"/>
                </a:solidFill>
                <a:latin typeface="Calibri" pitchFamily="34" charset="0"/>
                <a:ea typeface="Calibri" pitchFamily="34" charset="-122"/>
                <a:cs typeface="Calibri" pitchFamily="34" charset="-120"/>
              </a:rPr>
              <a:t>Ability to work effectively in a team-based automotive environment</a:t>
            </a:r>
            <a:endParaRPr lang="en-US" sz="1150" dirty="0"/>
          </a:p>
        </p:txBody>
      </p:sp>
      <p:sp>
        <p:nvSpPr>
          <p:cNvPr id="36" name="Text 34"/>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990011"/>
        </a:solidFill>
      </p:bgPr>
    </p:bg>
    <p:spTree>
      <p:nvGrpSpPr>
        <p:cNvPr id="1" name=""/>
        <p:cNvGrpSpPr/>
        <p:nvPr/>
      </p:nvGrpSpPr>
      <p:grpSpPr>
        <a:xfrm>
          <a:off x="0" y="0"/>
          <a:ext cx="0" cy="0"/>
          <a:chOff x="0" y="0"/>
          <a:chExt cx="0" cy="0"/>
        </a:xfrm>
      </p:grpSpPr>
      <p:sp>
        <p:nvSpPr>
          <p:cNvPr id="2" name="Text 0"/>
          <p:cNvSpPr txBox="1"/>
          <p:nvPr/>
        </p:nvSpPr>
        <p:spPr>
          <a:xfrm>
            <a:off x="822960" y="777240"/>
            <a:ext cx="7315200" cy="365760"/>
          </a:xfrm>
          <a:prstGeom prst="rect">
            <a:avLst/>
          </a:prstGeom>
          <a:noFill/>
          <a:ln/>
        </p:spPr>
        <p:txBody>
          <a:bodyPr wrap="square" lIns="0" tIns="0" rIns="0" bIns="0" rtlCol="0" anchor="ctr"/>
          <a:lstStyle/>
          <a:p>
            <a:pPr indent="0" marL="0">
              <a:buNone/>
            </a:pPr>
            <a:r>
              <a:rPr lang="en-US" sz="1300" b="1" spc="300" kern="0" dirty="0">
                <a:solidFill>
                  <a:srgbClr val="F2C6CC"/>
                </a:solidFill>
                <a:latin typeface="Calibri" pitchFamily="34" charset="0"/>
                <a:ea typeface="Calibri" pitchFamily="34" charset="-122"/>
                <a:cs typeface="Calibri" pitchFamily="34" charset="-120"/>
              </a:rPr>
              <a:t>LEARNING SUMMARY</a:t>
            </a:r>
            <a:endParaRPr lang="en-US" sz="1300" dirty="0"/>
          </a:p>
        </p:txBody>
      </p:sp>
      <p:sp>
        <p:nvSpPr>
          <p:cNvPr id="3" name="Text 1"/>
          <p:cNvSpPr txBox="1"/>
          <p:nvPr/>
        </p:nvSpPr>
        <p:spPr>
          <a:xfrm>
            <a:off x="822960" y="1143000"/>
            <a:ext cx="96012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Strong Foundation for What Comes Next</a:t>
            </a:r>
            <a:endParaRPr lang="en-US" sz="3000" dirty="0"/>
          </a:p>
        </p:txBody>
      </p:sp>
      <p:sp>
        <p:nvSpPr>
          <p:cNvPr id="4" name="Shape 2"/>
          <p:cNvSpPr/>
          <p:nvPr/>
        </p:nvSpPr>
        <p:spPr>
          <a:xfrm>
            <a:off x="822960" y="2386584"/>
            <a:ext cx="54864" cy="658368"/>
          </a:xfrm>
          <a:prstGeom prst="rect">
            <a:avLst/>
          </a:prstGeom>
          <a:solidFill>
            <a:srgbClr val="FFFFFF"/>
          </a:solidFill>
          <a:ln/>
        </p:spPr>
      </p:sp>
      <p:sp>
        <p:nvSpPr>
          <p:cNvPr id="5" name="Text 3"/>
          <p:cNvSpPr txBox="1"/>
          <p:nvPr/>
        </p:nvSpPr>
        <p:spPr>
          <a:xfrm>
            <a:off x="1051560" y="2331720"/>
            <a:ext cx="9326880" cy="822960"/>
          </a:xfrm>
          <a:prstGeom prst="rect">
            <a:avLst/>
          </a:prstGeom>
          <a:noFill/>
          <a:ln/>
        </p:spPr>
        <p:txBody>
          <a:bodyPr wrap="square" lIns="0" tIns="0" rIns="0" bIns="0" rtlCol="0" anchor="ctr"/>
          <a:lstStyle/>
          <a:p>
            <a:pPr indent="0" marL="0">
              <a:lnSpc>
                <a:spcPct val="125000"/>
              </a:lnSpc>
              <a:buNone/>
            </a:pPr>
            <a:r>
              <a:rPr lang="en-US" sz="1350" dirty="0">
                <a:solidFill>
                  <a:srgbClr val="FCE9EB"/>
                </a:solidFill>
                <a:latin typeface="Calibri" pitchFamily="34" charset="0"/>
                <a:ea typeface="Calibri" pitchFamily="34" charset="-122"/>
                <a:cs typeface="Calibri" pitchFamily="34" charset="-120"/>
              </a:rPr>
              <a:t>Learned how work is carried out in a professional automotive organisation — following instructions, maintaining records, working with a team and completing tasks carefully.</a:t>
            </a:r>
            <a:endParaRPr lang="en-US" sz="1350" dirty="0"/>
          </a:p>
        </p:txBody>
      </p:sp>
      <p:sp>
        <p:nvSpPr>
          <p:cNvPr id="6" name="Shape 4"/>
          <p:cNvSpPr/>
          <p:nvPr/>
        </p:nvSpPr>
        <p:spPr>
          <a:xfrm>
            <a:off x="822960" y="3300984"/>
            <a:ext cx="54864" cy="658368"/>
          </a:xfrm>
          <a:prstGeom prst="rect">
            <a:avLst/>
          </a:prstGeom>
          <a:solidFill>
            <a:srgbClr val="FFFFFF"/>
          </a:solidFill>
          <a:ln/>
        </p:spPr>
      </p:sp>
      <p:sp>
        <p:nvSpPr>
          <p:cNvPr id="7" name="Text 5"/>
          <p:cNvSpPr txBox="1"/>
          <p:nvPr/>
        </p:nvSpPr>
        <p:spPr>
          <a:xfrm>
            <a:off x="1051560" y="3246120"/>
            <a:ext cx="9326880" cy="822960"/>
          </a:xfrm>
          <a:prstGeom prst="rect">
            <a:avLst/>
          </a:prstGeom>
          <a:noFill/>
          <a:ln/>
        </p:spPr>
        <p:txBody>
          <a:bodyPr wrap="square" lIns="0" tIns="0" rIns="0" bIns="0" rtlCol="0" anchor="ctr"/>
          <a:lstStyle/>
          <a:p>
            <a:pPr indent="0" marL="0">
              <a:lnSpc>
                <a:spcPct val="125000"/>
              </a:lnSpc>
              <a:buNone/>
            </a:pPr>
            <a:r>
              <a:rPr lang="en-US" sz="1350" dirty="0">
                <a:solidFill>
                  <a:srgbClr val="FCE9EB"/>
                </a:solidFill>
                <a:latin typeface="Calibri" pitchFamily="34" charset="0"/>
                <a:ea typeface="Calibri" pitchFamily="34" charset="-122"/>
                <a:cs typeface="Calibri" pitchFamily="34" charset="-120"/>
              </a:rPr>
              <a:t>Strengthened basic technical knowledge and understanding of how technology and computer-based systems support automobile operations.</a:t>
            </a:r>
            <a:endParaRPr lang="en-US" sz="1350" dirty="0"/>
          </a:p>
        </p:txBody>
      </p:sp>
      <p:sp>
        <p:nvSpPr>
          <p:cNvPr id="8" name="Shape 6"/>
          <p:cNvSpPr/>
          <p:nvPr/>
        </p:nvSpPr>
        <p:spPr>
          <a:xfrm>
            <a:off x="822960" y="4215384"/>
            <a:ext cx="54864" cy="658368"/>
          </a:xfrm>
          <a:prstGeom prst="rect">
            <a:avLst/>
          </a:prstGeom>
          <a:solidFill>
            <a:srgbClr val="FFFFFF"/>
          </a:solidFill>
          <a:ln/>
        </p:spPr>
      </p:sp>
      <p:sp>
        <p:nvSpPr>
          <p:cNvPr id="9" name="Text 7"/>
          <p:cNvSpPr txBox="1"/>
          <p:nvPr/>
        </p:nvSpPr>
        <p:spPr>
          <a:xfrm>
            <a:off x="1051560" y="4160520"/>
            <a:ext cx="9326880" cy="822960"/>
          </a:xfrm>
          <a:prstGeom prst="rect">
            <a:avLst/>
          </a:prstGeom>
          <a:noFill/>
          <a:ln/>
        </p:spPr>
        <p:txBody>
          <a:bodyPr wrap="square" lIns="0" tIns="0" rIns="0" bIns="0" rtlCol="0" anchor="ctr"/>
          <a:lstStyle/>
          <a:p>
            <a:pPr indent="0" marL="0">
              <a:lnSpc>
                <a:spcPct val="125000"/>
              </a:lnSpc>
              <a:buNone/>
            </a:pPr>
            <a:r>
              <a:rPr lang="en-US" sz="1350" dirty="0">
                <a:solidFill>
                  <a:srgbClr val="FCE9EB"/>
                </a:solidFill>
                <a:latin typeface="Calibri" pitchFamily="34" charset="0"/>
                <a:ea typeface="Calibri" pitchFamily="34" charset="-122"/>
                <a:cs typeface="Calibri" pitchFamily="34" charset="-120"/>
              </a:rPr>
              <a:t>Gained a foundation for further learning in full-stack development, software engineering, cloud technologies and DevOps.</a:t>
            </a:r>
            <a:endParaRPr lang="en-US" sz="1350" dirty="0"/>
          </a:p>
        </p:txBody>
      </p:sp>
      <p:sp>
        <p:nvSpPr>
          <p:cNvPr id="10" name="Shape 8"/>
          <p:cNvSpPr/>
          <p:nvPr/>
        </p:nvSpPr>
        <p:spPr>
          <a:xfrm>
            <a:off x="822960" y="5257800"/>
            <a:ext cx="10515600" cy="0"/>
          </a:xfrm>
          <a:prstGeom prst="line">
            <a:avLst/>
          </a:prstGeom>
          <a:noFill/>
          <a:ln w="12700">
            <a:solidFill>
              <a:srgbClr val="C24A55"/>
            </a:solidFill>
            <a:prstDash val="solid"/>
          </a:ln>
        </p:spPr>
      </p:sp>
      <p:sp>
        <p:nvSpPr>
          <p:cNvPr id="11" name="Text 9"/>
          <p:cNvSpPr txBox="1"/>
          <p:nvPr/>
        </p:nvSpPr>
        <p:spPr>
          <a:xfrm>
            <a:off x="822960" y="5486400"/>
            <a:ext cx="23317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7</a:t>
            </a:r>
            <a:endParaRPr lang="en-US" sz="3200" dirty="0"/>
          </a:p>
        </p:txBody>
      </p:sp>
      <p:sp>
        <p:nvSpPr>
          <p:cNvPr id="12" name="Text 10"/>
          <p:cNvSpPr txBox="1"/>
          <p:nvPr/>
        </p:nvSpPr>
        <p:spPr>
          <a:xfrm>
            <a:off x="822960" y="6053328"/>
            <a:ext cx="2331720" cy="365760"/>
          </a:xfrm>
          <a:prstGeom prst="rect">
            <a:avLst/>
          </a:prstGeom>
          <a:noFill/>
          <a:ln/>
        </p:spPr>
        <p:txBody>
          <a:bodyPr wrap="square" lIns="0" tIns="0" rIns="0" bIns="0" rtlCol="0" anchor="ctr"/>
          <a:lstStyle/>
          <a:p>
            <a:pPr indent="0" marL="0">
              <a:buNone/>
            </a:pPr>
            <a:r>
              <a:rPr lang="en-US" sz="1100" dirty="0">
                <a:solidFill>
                  <a:srgbClr val="F2C6CC"/>
                </a:solidFill>
                <a:latin typeface="Calibri" pitchFamily="34" charset="0"/>
                <a:ea typeface="Calibri" pitchFamily="34" charset="-122"/>
                <a:cs typeface="Calibri" pitchFamily="34" charset="-120"/>
              </a:rPr>
              <a:t>Workflow Steps</a:t>
            </a:r>
            <a:endParaRPr lang="en-US" sz="1100" dirty="0"/>
          </a:p>
        </p:txBody>
      </p:sp>
      <p:sp>
        <p:nvSpPr>
          <p:cNvPr id="13" name="Text 11"/>
          <p:cNvSpPr txBox="1"/>
          <p:nvPr/>
        </p:nvSpPr>
        <p:spPr>
          <a:xfrm>
            <a:off x="3429000" y="5486400"/>
            <a:ext cx="23317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6</a:t>
            </a:r>
            <a:endParaRPr lang="en-US" sz="3200" dirty="0"/>
          </a:p>
        </p:txBody>
      </p:sp>
      <p:sp>
        <p:nvSpPr>
          <p:cNvPr id="14" name="Text 12"/>
          <p:cNvSpPr txBox="1"/>
          <p:nvPr/>
        </p:nvSpPr>
        <p:spPr>
          <a:xfrm>
            <a:off x="3429000" y="6053328"/>
            <a:ext cx="2331720" cy="365760"/>
          </a:xfrm>
          <a:prstGeom prst="rect">
            <a:avLst/>
          </a:prstGeom>
          <a:noFill/>
          <a:ln/>
        </p:spPr>
        <p:txBody>
          <a:bodyPr wrap="square" lIns="0" tIns="0" rIns="0" bIns="0" rtlCol="0" anchor="ctr"/>
          <a:lstStyle/>
          <a:p>
            <a:pPr indent="0" marL="0">
              <a:buNone/>
            </a:pPr>
            <a:r>
              <a:rPr lang="en-US" sz="1100" dirty="0">
                <a:solidFill>
                  <a:srgbClr val="F2C6CC"/>
                </a:solidFill>
                <a:latin typeface="Calibri" pitchFamily="34" charset="0"/>
                <a:ea typeface="Calibri" pitchFamily="34" charset="-122"/>
                <a:cs typeface="Calibri" pitchFamily="34" charset="-120"/>
              </a:rPr>
              <a:t>Core Technologies</a:t>
            </a:r>
            <a:endParaRPr lang="en-US" sz="1100" dirty="0"/>
          </a:p>
        </p:txBody>
      </p:sp>
      <p:sp>
        <p:nvSpPr>
          <p:cNvPr id="15" name="Text 13"/>
          <p:cNvSpPr txBox="1"/>
          <p:nvPr/>
        </p:nvSpPr>
        <p:spPr>
          <a:xfrm>
            <a:off x="6035040" y="5486400"/>
            <a:ext cx="23317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8</a:t>
            </a:r>
            <a:endParaRPr lang="en-US" sz="3200" dirty="0"/>
          </a:p>
        </p:txBody>
      </p:sp>
      <p:sp>
        <p:nvSpPr>
          <p:cNvPr id="16" name="Text 14"/>
          <p:cNvSpPr txBox="1"/>
          <p:nvPr/>
        </p:nvSpPr>
        <p:spPr>
          <a:xfrm>
            <a:off x="6035040" y="6053328"/>
            <a:ext cx="2331720" cy="365760"/>
          </a:xfrm>
          <a:prstGeom prst="rect">
            <a:avLst/>
          </a:prstGeom>
          <a:noFill/>
          <a:ln/>
        </p:spPr>
        <p:txBody>
          <a:bodyPr wrap="square" lIns="0" tIns="0" rIns="0" bIns="0" rtlCol="0" anchor="ctr"/>
          <a:lstStyle/>
          <a:p>
            <a:pPr indent="0" marL="0">
              <a:buNone/>
            </a:pPr>
            <a:r>
              <a:rPr lang="en-US" sz="1100" dirty="0">
                <a:solidFill>
                  <a:srgbClr val="F2C6CC"/>
                </a:solidFill>
                <a:latin typeface="Calibri" pitchFamily="34" charset="0"/>
                <a:ea typeface="Calibri" pitchFamily="34" charset="-122"/>
                <a:cs typeface="Calibri" pitchFamily="34" charset="-120"/>
              </a:rPr>
              <a:t>Objectives Achieved</a:t>
            </a:r>
            <a:endParaRPr lang="en-US" sz="1100" dirty="0"/>
          </a:p>
        </p:txBody>
      </p:sp>
      <p:sp>
        <p:nvSpPr>
          <p:cNvPr id="17" name="Text 15"/>
          <p:cNvSpPr txBox="1"/>
          <p:nvPr/>
        </p:nvSpPr>
        <p:spPr>
          <a:xfrm>
            <a:off x="8641080" y="5486400"/>
            <a:ext cx="23317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8</a:t>
            </a:r>
            <a:endParaRPr lang="en-US" sz="3200" dirty="0"/>
          </a:p>
        </p:txBody>
      </p:sp>
      <p:sp>
        <p:nvSpPr>
          <p:cNvPr id="18" name="Text 16"/>
          <p:cNvSpPr txBox="1"/>
          <p:nvPr/>
        </p:nvSpPr>
        <p:spPr>
          <a:xfrm>
            <a:off x="8641080" y="6053328"/>
            <a:ext cx="2331720" cy="365760"/>
          </a:xfrm>
          <a:prstGeom prst="rect">
            <a:avLst/>
          </a:prstGeom>
          <a:noFill/>
          <a:ln/>
        </p:spPr>
        <p:txBody>
          <a:bodyPr wrap="square" lIns="0" tIns="0" rIns="0" bIns="0" rtlCol="0" anchor="ctr"/>
          <a:lstStyle/>
          <a:p>
            <a:pPr indent="0" marL="0">
              <a:buNone/>
            </a:pPr>
            <a:r>
              <a:rPr lang="en-US" sz="1100" dirty="0">
                <a:solidFill>
                  <a:srgbClr val="F2C6CC"/>
                </a:solidFill>
                <a:latin typeface="Calibri" pitchFamily="34" charset="0"/>
                <a:ea typeface="Calibri" pitchFamily="34" charset="-122"/>
                <a:cs typeface="Calibri" pitchFamily="34" charset="-120"/>
              </a:rPr>
              <a:t>Learning Outcomes</a:t>
            </a:r>
            <a:endParaRPr lang="en-US" sz="1100" dirty="0"/>
          </a:p>
        </p:txBody>
      </p:sp>
      <p:sp>
        <p:nvSpPr>
          <p:cNvPr id="19" name="Text 17"/>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FCF6F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6F5"/>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990011"/>
          </a:solidFill>
          <a:ln/>
        </p:spPr>
      </p:sp>
      <p:sp>
        <p:nvSpPr>
          <p:cNvPr id="3" name="Text 1"/>
          <p:cNvSpPr txBox="1"/>
          <p:nvPr/>
        </p:nvSpPr>
        <p:spPr>
          <a:xfrm>
            <a:off x="822960" y="2651760"/>
            <a:ext cx="8229600" cy="1005840"/>
          </a:xfrm>
          <a:prstGeom prst="rect">
            <a:avLst/>
          </a:prstGeom>
          <a:noFill/>
          <a:ln/>
        </p:spPr>
        <p:txBody>
          <a:bodyPr wrap="square" lIns="0" tIns="0" rIns="0" bIns="0" rtlCol="0" anchor="ctr"/>
          <a:lstStyle/>
          <a:p>
            <a:pPr indent="0" marL="0">
              <a:buNone/>
            </a:pPr>
            <a:r>
              <a:rPr lang="en-US" sz="4400" b="1" dirty="0">
                <a:solidFill>
                  <a:srgbClr val="990011"/>
                </a:solidFill>
                <a:latin typeface="Cambria" pitchFamily="34" charset="0"/>
                <a:ea typeface="Cambria" pitchFamily="34" charset="-122"/>
                <a:cs typeface="Cambria" pitchFamily="34" charset="-120"/>
              </a:rPr>
              <a:t>Thank You</a:t>
            </a:r>
            <a:endParaRPr lang="en-US" sz="4400" dirty="0"/>
          </a:p>
        </p:txBody>
      </p:sp>
      <p:sp>
        <p:nvSpPr>
          <p:cNvPr id="4" name="Text 2"/>
          <p:cNvSpPr txBox="1"/>
          <p:nvPr/>
        </p:nvSpPr>
        <p:spPr>
          <a:xfrm>
            <a:off x="822960" y="3566160"/>
            <a:ext cx="9144000" cy="457200"/>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Internship Report · Automobile Operations &amp; Technology at Mahindra Automobile</a:t>
            </a:r>
            <a:endParaRPr lang="en-US" sz="1400" dirty="0"/>
          </a:p>
        </p:txBody>
      </p:sp>
      <p:sp>
        <p:nvSpPr>
          <p:cNvPr id="5" name="Shape 3"/>
          <p:cNvSpPr/>
          <p:nvPr/>
        </p:nvSpPr>
        <p:spPr>
          <a:xfrm>
            <a:off x="868680" y="4160520"/>
            <a:ext cx="1828800" cy="0"/>
          </a:xfrm>
          <a:prstGeom prst="line">
            <a:avLst/>
          </a:prstGeom>
          <a:noFill/>
          <a:ln w="19050">
            <a:solidFill>
              <a:srgbClr val="990011"/>
            </a:solidFill>
            <a:prstDash val="solid"/>
          </a:ln>
        </p:spPr>
      </p:sp>
      <p:sp>
        <p:nvSpPr>
          <p:cNvPr id="6" name="Text 4"/>
          <p:cNvSpPr txBox="1"/>
          <p:nvPr/>
        </p:nvSpPr>
        <p:spPr>
          <a:xfrm>
            <a:off x="822960" y="4389120"/>
            <a:ext cx="8686800" cy="1097280"/>
          </a:xfrm>
          <a:prstGeom prst="rect">
            <a:avLst/>
          </a:prstGeom>
          <a:noFill/>
          <a:ln/>
        </p:spPr>
        <p:txBody>
          <a:bodyPr wrap="square" lIns="0" tIns="0" rIns="0" bIns="0" rtlCol="0" anchor="ctr"/>
          <a:lstStyle/>
          <a:p>
            <a:pPr indent="0" marL="0">
              <a:lnSpc>
                <a:spcPct val="130000"/>
              </a:lnSpc>
              <a:buNone/>
            </a:pPr>
            <a:r>
              <a:rPr lang="en-US" sz="1400" b="1" dirty="0">
                <a:solidFill>
                  <a:srgbClr val="1A1A1A"/>
                </a:solidFill>
                <a:latin typeface="Calibri" pitchFamily="34" charset="0"/>
                <a:ea typeface="Calibri" pitchFamily="34" charset="-122"/>
                <a:cs typeface="Calibri" pitchFamily="34" charset="-120"/>
              </a:rPr>
              <a:t>Vedant Kataria
</a:t>
            </a:r>
            <a:endParaRPr lang="en-US" sz="1400" dirty="0"/>
          </a:p>
          <a:p>
            <a:pPr indent="0" marL="0">
              <a:lnSpc>
                <a:spcPct val="130000"/>
              </a:lnSpc>
              <a:buNone/>
            </a:pPr>
            <a:r>
              <a:rPr lang="en-US" sz="1200" dirty="0">
                <a:solidFill>
                  <a:srgbClr val="6B6B6B"/>
                </a:solidFill>
                <a:latin typeface="Calibri" pitchFamily="34" charset="0"/>
                <a:ea typeface="Calibri" pitchFamily="34" charset="-122"/>
                <a:cs typeface="Calibri" pitchFamily="34" charset="-120"/>
              </a:rPr>
              <a:t>Enrollment No.: 25SCS1003005392
</a:t>
            </a:r>
            <a:endParaRPr lang="en-US" sz="1400" dirty="0"/>
          </a:p>
          <a:p>
            <a:pPr indent="0" marL="0">
              <a:lnSpc>
                <a:spcPct val="130000"/>
              </a:lnSpc>
              <a:buNone/>
            </a:pPr>
            <a:r>
              <a:rPr lang="en-US" sz="1200" dirty="0">
                <a:solidFill>
                  <a:srgbClr val="6B6B6B"/>
                </a:solidFill>
                <a:latin typeface="Calibri" pitchFamily="34" charset="0"/>
                <a:ea typeface="Calibri" pitchFamily="34" charset="-122"/>
                <a:cs typeface="Calibri" pitchFamily="34" charset="-120"/>
              </a:rPr>
              <a:t>B.Tech CSE, Semester 3 · IILM University, Greater Noida, U.P.</a:t>
            </a:r>
            <a:endParaRPr lang="en-US" sz="1400" dirty="0"/>
          </a:p>
        </p:txBody>
      </p:sp>
      <p:sp>
        <p:nvSpPr>
          <p:cNvPr id="7" name="Shape 5"/>
          <p:cNvSpPr/>
          <p:nvPr/>
        </p:nvSpPr>
        <p:spPr>
          <a:xfrm>
            <a:off x="795528" y="594360"/>
            <a:ext cx="457200" cy="457200"/>
          </a:xfrm>
          <a:prstGeom prst="ellipse">
            <a:avLst/>
          </a:prstGeom>
          <a:solidFill>
            <a:srgbClr val="FFFFFF"/>
          </a:solidFill>
          <a:ln w="12700">
            <a:solidFill>
              <a:srgbClr val="E3B4B9"/>
            </a:solidFill>
            <a:prstDash val="solid"/>
          </a:ln>
        </p:spPr>
      </p:sp>
      <p:pic>
        <p:nvPicPr>
          <p:cNvPr id="8" name="Image 0" descr="/home/claude/iilm_logo.png">    </p:cNvPr>
          <p:cNvPicPr>
            <a:picLocks noChangeAspect="1"/>
          </p:cNvPicPr>
          <p:nvPr/>
        </p:nvPicPr>
        <p:blipFill>
          <a:blip r:embed="rId1"/>
          <a:stretch>
            <a:fillRect/>
          </a:stretch>
        </p:blipFill>
        <p:spPr>
          <a:xfrm>
            <a:off x="868680" y="658368"/>
            <a:ext cx="310896" cy="329184"/>
          </a:xfrm>
          <a:prstGeom prst="rect">
            <a:avLst/>
          </a:prstGeom>
        </p:spPr>
      </p:pic>
      <p:sp>
        <p:nvSpPr>
          <p:cNvPr id="9" name="Text 6"/>
          <p:cNvSpPr txBox="1"/>
          <p:nvPr/>
        </p:nvSpPr>
        <p:spPr>
          <a:xfrm>
            <a:off x="1371600" y="658368"/>
            <a:ext cx="3657600" cy="365760"/>
          </a:xfrm>
          <a:prstGeom prst="rect">
            <a:avLst/>
          </a:prstGeom>
          <a:noFill/>
          <a:ln/>
        </p:spPr>
        <p:txBody>
          <a:bodyPr wrap="square" lIns="0" tIns="0" rIns="0" bIns="0" rtlCol="0" anchor="ctr"/>
          <a:lstStyle/>
          <a:p>
            <a:pPr indent="0" marL="0">
              <a:buNone/>
            </a:pPr>
            <a:r>
              <a:rPr lang="en-US" sz="1200" b="1" dirty="0">
                <a:solidFill>
                  <a:srgbClr val="6B6B6B"/>
                </a:solidFill>
                <a:latin typeface="Calibri" pitchFamily="34" charset="0"/>
                <a:ea typeface="Calibri" pitchFamily="34" charset="-122"/>
                <a:cs typeface="Calibri" pitchFamily="34" charset="-120"/>
              </a:rPr>
              <a:t>IILM University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2026-08-30T17:57:19Z</dcterms:created>
  <dcterms:modified xsi:type="dcterms:W3CDTF">2026-08-30T17:57:19Z</dcterms:modified>
</cp:coreProperties>
</file>